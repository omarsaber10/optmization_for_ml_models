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Garet" charset="1" panose="00000000000000000000"/>
      <p:regular r:id="rId15"/>
    </p:embeddedFont>
    <p:embeddedFont>
      <p:font typeface="Garet Bold" charset="1" panose="000000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jpe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 Id="rId8" Target="../media/image4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https://www.linkedin.com/in/omar-saber1/" TargetMode="External" Type="http://schemas.openxmlformats.org/officeDocument/2006/relationships/hyperlink"/><Relationship Id="rId7" Target="https://github.com/omarsaber10"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8E7E3"/>
        </a:solidFill>
      </p:bgPr>
    </p:bg>
    <p:spTree>
      <p:nvGrpSpPr>
        <p:cNvPr id="1" name=""/>
        <p:cNvGrpSpPr/>
        <p:nvPr/>
      </p:nvGrpSpPr>
      <p:grpSpPr>
        <a:xfrm>
          <a:off x="0" y="0"/>
          <a:ext cx="0" cy="0"/>
          <a:chOff x="0" y="0"/>
          <a:chExt cx="0" cy="0"/>
        </a:xfrm>
      </p:grpSpPr>
      <p:grpSp>
        <p:nvGrpSpPr>
          <p:cNvPr name="Group 2" id="2"/>
          <p:cNvGrpSpPr/>
          <p:nvPr/>
        </p:nvGrpSpPr>
        <p:grpSpPr>
          <a:xfrm rot="0">
            <a:off x="2591277" y="2911774"/>
            <a:ext cx="13105446" cy="3867178"/>
            <a:chOff x="0" y="0"/>
            <a:chExt cx="3451640" cy="1018516"/>
          </a:xfrm>
        </p:grpSpPr>
        <p:sp>
          <p:nvSpPr>
            <p:cNvPr name="Freeform 3" id="3"/>
            <p:cNvSpPr/>
            <p:nvPr/>
          </p:nvSpPr>
          <p:spPr>
            <a:xfrm flipH="false" flipV="false" rot="0">
              <a:off x="0" y="0"/>
              <a:ext cx="3451640" cy="1018516"/>
            </a:xfrm>
            <a:custGeom>
              <a:avLst/>
              <a:gdLst/>
              <a:ahLst/>
              <a:cxnLst/>
              <a:rect r="r" b="b" t="t" l="l"/>
              <a:pathLst>
                <a:path h="1018516" w="3451640">
                  <a:moveTo>
                    <a:pt x="1725820" y="0"/>
                  </a:moveTo>
                  <a:cubicBezTo>
                    <a:pt x="772676" y="0"/>
                    <a:pt x="0" y="228003"/>
                    <a:pt x="0" y="509258"/>
                  </a:cubicBezTo>
                  <a:cubicBezTo>
                    <a:pt x="0" y="790513"/>
                    <a:pt x="772676" y="1018516"/>
                    <a:pt x="1725820" y="1018516"/>
                  </a:cubicBezTo>
                  <a:cubicBezTo>
                    <a:pt x="2678964" y="1018516"/>
                    <a:pt x="3451640" y="790513"/>
                    <a:pt x="3451640" y="509258"/>
                  </a:cubicBezTo>
                  <a:cubicBezTo>
                    <a:pt x="3451640" y="228003"/>
                    <a:pt x="2678964" y="0"/>
                    <a:pt x="1725820" y="0"/>
                  </a:cubicBezTo>
                  <a:close/>
                </a:path>
              </a:pathLst>
            </a:custGeom>
            <a:ln w="38100" cap="sq">
              <a:solidFill>
                <a:srgbClr val="172EB9"/>
              </a:solidFill>
              <a:prstDash val="solid"/>
              <a:miter/>
            </a:ln>
          </p:spPr>
        </p:sp>
        <p:sp>
          <p:nvSpPr>
            <p:cNvPr name="TextBox 4" id="4"/>
            <p:cNvSpPr txBox="true"/>
            <p:nvPr/>
          </p:nvSpPr>
          <p:spPr>
            <a:xfrm>
              <a:off x="323591" y="152636"/>
              <a:ext cx="2804458" cy="770394"/>
            </a:xfrm>
            <a:prstGeom prst="rect">
              <a:avLst/>
            </a:prstGeom>
          </p:spPr>
          <p:txBody>
            <a:bodyPr anchor="ctr" rtlCol="false" tIns="50800" lIns="50800" bIns="50800" rIns="50800"/>
            <a:lstStyle/>
            <a:p>
              <a:pPr algn="ctr">
                <a:lnSpc>
                  <a:spcPts val="2382"/>
                </a:lnSpc>
              </a:pPr>
            </a:p>
          </p:txBody>
        </p:sp>
      </p:grpSp>
      <p:sp>
        <p:nvSpPr>
          <p:cNvPr name="Freeform 5" id="5"/>
          <p:cNvSpPr/>
          <p:nvPr/>
        </p:nvSpPr>
        <p:spPr>
          <a:xfrm flipH="false" flipV="false" rot="4455035">
            <a:off x="3993664" y="3182408"/>
            <a:ext cx="696719" cy="756261"/>
          </a:xfrm>
          <a:custGeom>
            <a:avLst/>
            <a:gdLst/>
            <a:ahLst/>
            <a:cxnLst/>
            <a:rect r="r" b="b" t="t" l="l"/>
            <a:pathLst>
              <a:path h="756261" w="696719">
                <a:moveTo>
                  <a:pt x="0" y="0"/>
                </a:moveTo>
                <a:lnTo>
                  <a:pt x="696720" y="0"/>
                </a:lnTo>
                <a:lnTo>
                  <a:pt x="696720" y="756261"/>
                </a:lnTo>
                <a:lnTo>
                  <a:pt x="0" y="756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289367" y="3946837"/>
            <a:ext cx="13709267" cy="2444746"/>
          </a:xfrm>
          <a:prstGeom prst="rect">
            <a:avLst/>
          </a:prstGeom>
        </p:spPr>
        <p:txBody>
          <a:bodyPr anchor="t" rtlCol="false" tIns="0" lIns="0" bIns="0" rIns="0">
            <a:spAutoFit/>
          </a:bodyPr>
          <a:lstStyle/>
          <a:p>
            <a:pPr algn="ctr">
              <a:lnSpc>
                <a:spcPts val="9309"/>
              </a:lnSpc>
            </a:pPr>
            <a:r>
              <a:rPr lang="en-US" sz="9799" spc="-529">
                <a:solidFill>
                  <a:srgbClr val="172EB9"/>
                </a:solidFill>
                <a:latin typeface="Garet"/>
                <a:ea typeface="Garet"/>
                <a:cs typeface="Garet"/>
                <a:sym typeface="Garet"/>
              </a:rPr>
              <a:t>Optimizing For ML Models</a:t>
            </a:r>
          </a:p>
        </p:txBody>
      </p:sp>
      <p:sp>
        <p:nvSpPr>
          <p:cNvPr name="Freeform 7" id="7"/>
          <p:cNvSpPr/>
          <p:nvPr/>
        </p:nvSpPr>
        <p:spPr>
          <a:xfrm flipH="false" flipV="false" rot="4029878">
            <a:off x="14100888" y="5589057"/>
            <a:ext cx="696719" cy="756261"/>
          </a:xfrm>
          <a:custGeom>
            <a:avLst/>
            <a:gdLst/>
            <a:ahLst/>
            <a:cxnLst/>
            <a:rect r="r" b="b" t="t" l="l"/>
            <a:pathLst>
              <a:path h="756261" w="696719">
                <a:moveTo>
                  <a:pt x="0" y="0"/>
                </a:moveTo>
                <a:lnTo>
                  <a:pt x="696720" y="0"/>
                </a:lnTo>
                <a:lnTo>
                  <a:pt x="696720" y="756261"/>
                </a:lnTo>
                <a:lnTo>
                  <a:pt x="0" y="756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349847" y="7136132"/>
            <a:ext cx="17588306" cy="2694514"/>
            <a:chOff x="0" y="0"/>
            <a:chExt cx="4632311" cy="709666"/>
          </a:xfrm>
        </p:grpSpPr>
        <p:sp>
          <p:nvSpPr>
            <p:cNvPr name="Freeform 9" id="9"/>
            <p:cNvSpPr/>
            <p:nvPr/>
          </p:nvSpPr>
          <p:spPr>
            <a:xfrm flipH="false" flipV="false" rot="0">
              <a:off x="0" y="0"/>
              <a:ext cx="4632311" cy="709666"/>
            </a:xfrm>
            <a:custGeom>
              <a:avLst/>
              <a:gdLst/>
              <a:ahLst/>
              <a:cxnLst/>
              <a:rect r="r" b="b" t="t" l="l"/>
              <a:pathLst>
                <a:path h="709666" w="4632311">
                  <a:moveTo>
                    <a:pt x="0" y="0"/>
                  </a:moveTo>
                  <a:lnTo>
                    <a:pt x="4632311" y="0"/>
                  </a:lnTo>
                  <a:lnTo>
                    <a:pt x="4632311" y="709666"/>
                  </a:lnTo>
                  <a:lnTo>
                    <a:pt x="0" y="709666"/>
                  </a:lnTo>
                  <a:close/>
                </a:path>
              </a:pathLst>
            </a:custGeom>
            <a:gradFill rotWithShape="true">
              <a:gsLst>
                <a:gs pos="0">
                  <a:srgbClr val="E8E7E3">
                    <a:alpha val="100000"/>
                  </a:srgbClr>
                </a:gs>
                <a:gs pos="100000">
                  <a:srgbClr val="CEFFAD">
                    <a:alpha val="100000"/>
                  </a:srgbClr>
                </a:gs>
              </a:gsLst>
              <a:lin ang="5400000"/>
            </a:gradFill>
          </p:spPr>
        </p:sp>
        <p:sp>
          <p:nvSpPr>
            <p:cNvPr name="TextBox 10" id="10"/>
            <p:cNvSpPr txBox="true"/>
            <p:nvPr/>
          </p:nvSpPr>
          <p:spPr>
            <a:xfrm>
              <a:off x="0" y="57150"/>
              <a:ext cx="4632311" cy="652516"/>
            </a:xfrm>
            <a:prstGeom prst="rect">
              <a:avLst/>
            </a:prstGeom>
          </p:spPr>
          <p:txBody>
            <a:bodyPr anchor="ctr" rtlCol="false" tIns="50800" lIns="50800" bIns="50800" rIns="50800"/>
            <a:lstStyle/>
            <a:p>
              <a:pPr algn="ctr">
                <a:lnSpc>
                  <a:spcPts val="2382"/>
                </a:lnSpc>
              </a:pPr>
            </a:p>
          </p:txBody>
        </p:sp>
      </p:grpSp>
      <p:grpSp>
        <p:nvGrpSpPr>
          <p:cNvPr name="Group 11" id="11"/>
          <p:cNvGrpSpPr/>
          <p:nvPr/>
        </p:nvGrpSpPr>
        <p:grpSpPr>
          <a:xfrm rot="0">
            <a:off x="4696448" y="7736207"/>
            <a:ext cx="8895103" cy="880757"/>
            <a:chOff x="0" y="0"/>
            <a:chExt cx="2342743" cy="231969"/>
          </a:xfrm>
        </p:grpSpPr>
        <p:sp>
          <p:nvSpPr>
            <p:cNvPr name="Freeform 12" id="12"/>
            <p:cNvSpPr/>
            <p:nvPr/>
          </p:nvSpPr>
          <p:spPr>
            <a:xfrm flipH="false" flipV="false" rot="0">
              <a:off x="0" y="0"/>
              <a:ext cx="2342743" cy="231969"/>
            </a:xfrm>
            <a:custGeom>
              <a:avLst/>
              <a:gdLst/>
              <a:ahLst/>
              <a:cxnLst/>
              <a:rect r="r" b="b" t="t" l="l"/>
              <a:pathLst>
                <a:path h="231969" w="2342743">
                  <a:moveTo>
                    <a:pt x="44388" y="0"/>
                  </a:moveTo>
                  <a:lnTo>
                    <a:pt x="2298355" y="0"/>
                  </a:lnTo>
                  <a:cubicBezTo>
                    <a:pt x="2310128" y="0"/>
                    <a:pt x="2321418" y="4677"/>
                    <a:pt x="2329742" y="13001"/>
                  </a:cubicBezTo>
                  <a:cubicBezTo>
                    <a:pt x="2338067" y="21325"/>
                    <a:pt x="2342743" y="32616"/>
                    <a:pt x="2342743" y="44388"/>
                  </a:cubicBezTo>
                  <a:lnTo>
                    <a:pt x="2342743" y="187581"/>
                  </a:lnTo>
                  <a:cubicBezTo>
                    <a:pt x="2342743" y="199353"/>
                    <a:pt x="2338067" y="210643"/>
                    <a:pt x="2329742" y="218968"/>
                  </a:cubicBezTo>
                  <a:cubicBezTo>
                    <a:pt x="2321418" y="227292"/>
                    <a:pt x="2310128" y="231969"/>
                    <a:pt x="2298355" y="231969"/>
                  </a:cubicBezTo>
                  <a:lnTo>
                    <a:pt x="44388" y="231969"/>
                  </a:lnTo>
                  <a:cubicBezTo>
                    <a:pt x="32616" y="231969"/>
                    <a:pt x="21325" y="227292"/>
                    <a:pt x="13001" y="218968"/>
                  </a:cubicBezTo>
                  <a:cubicBezTo>
                    <a:pt x="4677" y="210643"/>
                    <a:pt x="0" y="199353"/>
                    <a:pt x="0" y="187581"/>
                  </a:cubicBezTo>
                  <a:lnTo>
                    <a:pt x="0" y="44388"/>
                  </a:lnTo>
                  <a:cubicBezTo>
                    <a:pt x="0" y="32616"/>
                    <a:pt x="4677" y="21325"/>
                    <a:pt x="13001" y="13001"/>
                  </a:cubicBezTo>
                  <a:cubicBezTo>
                    <a:pt x="21325" y="4677"/>
                    <a:pt x="32616" y="0"/>
                    <a:pt x="44388" y="0"/>
                  </a:cubicBezTo>
                  <a:close/>
                </a:path>
              </a:pathLst>
            </a:custGeom>
            <a:solidFill>
              <a:srgbClr val="172EB9">
                <a:alpha val="17647"/>
              </a:srgbClr>
            </a:solidFill>
            <a:ln w="38100" cap="rnd">
              <a:solidFill>
                <a:srgbClr val="172EB9">
                  <a:alpha val="17647"/>
                </a:srgbClr>
              </a:solidFill>
              <a:prstDash val="solid"/>
              <a:round/>
            </a:ln>
          </p:spPr>
        </p:sp>
        <p:sp>
          <p:nvSpPr>
            <p:cNvPr name="TextBox 13" id="13"/>
            <p:cNvSpPr txBox="true"/>
            <p:nvPr/>
          </p:nvSpPr>
          <p:spPr>
            <a:xfrm>
              <a:off x="0" y="57150"/>
              <a:ext cx="2342743" cy="174819"/>
            </a:xfrm>
            <a:prstGeom prst="rect">
              <a:avLst/>
            </a:prstGeom>
          </p:spPr>
          <p:txBody>
            <a:bodyPr anchor="ctr" rtlCol="false" tIns="50800" lIns="50800" bIns="50800" rIns="50800"/>
            <a:lstStyle/>
            <a:p>
              <a:pPr algn="ctr">
                <a:lnSpc>
                  <a:spcPts val="2382"/>
                </a:lnSpc>
              </a:pPr>
            </a:p>
          </p:txBody>
        </p:sp>
      </p:grpSp>
      <p:sp>
        <p:nvSpPr>
          <p:cNvPr name="Freeform 14" id="14"/>
          <p:cNvSpPr/>
          <p:nvPr/>
        </p:nvSpPr>
        <p:spPr>
          <a:xfrm flipH="false" flipV="false" rot="0">
            <a:off x="1122534" y="1028700"/>
            <a:ext cx="1468743" cy="1468743"/>
          </a:xfrm>
          <a:custGeom>
            <a:avLst/>
            <a:gdLst/>
            <a:ahLst/>
            <a:cxnLst/>
            <a:rect r="r" b="b" t="t" l="l"/>
            <a:pathLst>
              <a:path h="1468743" w="1468743">
                <a:moveTo>
                  <a:pt x="0" y="0"/>
                </a:moveTo>
                <a:lnTo>
                  <a:pt x="1468743" y="0"/>
                </a:lnTo>
                <a:lnTo>
                  <a:pt x="1468743" y="1468743"/>
                </a:lnTo>
                <a:lnTo>
                  <a:pt x="0" y="14687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15790557" y="1028700"/>
            <a:ext cx="1468743" cy="1468743"/>
          </a:xfrm>
          <a:custGeom>
            <a:avLst/>
            <a:gdLst/>
            <a:ahLst/>
            <a:cxnLst/>
            <a:rect r="r" b="b" t="t" l="l"/>
            <a:pathLst>
              <a:path h="1468743" w="1468743">
                <a:moveTo>
                  <a:pt x="0" y="0"/>
                </a:moveTo>
                <a:lnTo>
                  <a:pt x="1468743" y="0"/>
                </a:lnTo>
                <a:lnTo>
                  <a:pt x="1468743" y="1468743"/>
                </a:lnTo>
                <a:lnTo>
                  <a:pt x="0" y="14687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6" id="16"/>
          <p:cNvGrpSpPr/>
          <p:nvPr/>
        </p:nvGrpSpPr>
        <p:grpSpPr>
          <a:xfrm rot="0">
            <a:off x="4696448" y="7736207"/>
            <a:ext cx="8895103" cy="983187"/>
            <a:chOff x="0" y="0"/>
            <a:chExt cx="2342743" cy="258946"/>
          </a:xfrm>
        </p:grpSpPr>
        <p:sp>
          <p:nvSpPr>
            <p:cNvPr name="Freeform 17" id="17"/>
            <p:cNvSpPr/>
            <p:nvPr/>
          </p:nvSpPr>
          <p:spPr>
            <a:xfrm flipH="false" flipV="false" rot="0">
              <a:off x="0" y="0"/>
              <a:ext cx="2342743" cy="258946"/>
            </a:xfrm>
            <a:custGeom>
              <a:avLst/>
              <a:gdLst/>
              <a:ahLst/>
              <a:cxnLst/>
              <a:rect r="r" b="b" t="t" l="l"/>
              <a:pathLst>
                <a:path h="258946" w="2342743">
                  <a:moveTo>
                    <a:pt x="44388" y="0"/>
                  </a:moveTo>
                  <a:lnTo>
                    <a:pt x="2298355" y="0"/>
                  </a:lnTo>
                  <a:cubicBezTo>
                    <a:pt x="2310128" y="0"/>
                    <a:pt x="2321418" y="4677"/>
                    <a:pt x="2329742" y="13001"/>
                  </a:cubicBezTo>
                  <a:cubicBezTo>
                    <a:pt x="2338067" y="21325"/>
                    <a:pt x="2342743" y="32616"/>
                    <a:pt x="2342743" y="44388"/>
                  </a:cubicBezTo>
                  <a:lnTo>
                    <a:pt x="2342743" y="214558"/>
                  </a:lnTo>
                  <a:cubicBezTo>
                    <a:pt x="2342743" y="226331"/>
                    <a:pt x="2338067" y="237621"/>
                    <a:pt x="2329742" y="245945"/>
                  </a:cubicBezTo>
                  <a:cubicBezTo>
                    <a:pt x="2321418" y="254270"/>
                    <a:pt x="2310128" y="258946"/>
                    <a:pt x="2298355" y="258946"/>
                  </a:cubicBezTo>
                  <a:lnTo>
                    <a:pt x="44388" y="258946"/>
                  </a:lnTo>
                  <a:cubicBezTo>
                    <a:pt x="32616" y="258946"/>
                    <a:pt x="21325" y="254270"/>
                    <a:pt x="13001" y="245945"/>
                  </a:cubicBezTo>
                  <a:cubicBezTo>
                    <a:pt x="4677" y="237621"/>
                    <a:pt x="0" y="226331"/>
                    <a:pt x="0" y="214558"/>
                  </a:cubicBezTo>
                  <a:lnTo>
                    <a:pt x="0" y="44388"/>
                  </a:lnTo>
                  <a:cubicBezTo>
                    <a:pt x="0" y="32616"/>
                    <a:pt x="4677" y="21325"/>
                    <a:pt x="13001" y="13001"/>
                  </a:cubicBezTo>
                  <a:cubicBezTo>
                    <a:pt x="21325" y="4677"/>
                    <a:pt x="32616" y="0"/>
                    <a:pt x="44388" y="0"/>
                  </a:cubicBezTo>
                  <a:close/>
                </a:path>
              </a:pathLst>
            </a:custGeom>
            <a:ln w="38100" cap="rnd">
              <a:solidFill>
                <a:srgbClr val="172EB9"/>
              </a:solidFill>
              <a:prstDash val="solid"/>
              <a:round/>
            </a:ln>
          </p:spPr>
        </p:sp>
        <p:sp>
          <p:nvSpPr>
            <p:cNvPr name="TextBox 18" id="18"/>
            <p:cNvSpPr txBox="true"/>
            <p:nvPr/>
          </p:nvSpPr>
          <p:spPr>
            <a:xfrm>
              <a:off x="0" y="57150"/>
              <a:ext cx="2342743" cy="201796"/>
            </a:xfrm>
            <a:prstGeom prst="rect">
              <a:avLst/>
            </a:prstGeom>
          </p:spPr>
          <p:txBody>
            <a:bodyPr anchor="ctr" rtlCol="false" tIns="50800" lIns="50800" bIns="50800" rIns="50800"/>
            <a:lstStyle/>
            <a:p>
              <a:pPr algn="ctr">
                <a:lnSpc>
                  <a:spcPts val="2382"/>
                </a:lnSpc>
              </a:pPr>
            </a:p>
          </p:txBody>
        </p:sp>
      </p:grpSp>
      <p:sp>
        <p:nvSpPr>
          <p:cNvPr name="Freeform 19" id="19"/>
          <p:cNvSpPr/>
          <p:nvPr/>
        </p:nvSpPr>
        <p:spPr>
          <a:xfrm flipH="false" flipV="false" rot="0">
            <a:off x="1122534" y="7632620"/>
            <a:ext cx="1468743" cy="1468743"/>
          </a:xfrm>
          <a:custGeom>
            <a:avLst/>
            <a:gdLst/>
            <a:ahLst/>
            <a:cxnLst/>
            <a:rect r="r" b="b" t="t" l="l"/>
            <a:pathLst>
              <a:path h="1468743" w="1468743">
                <a:moveTo>
                  <a:pt x="0" y="0"/>
                </a:moveTo>
                <a:lnTo>
                  <a:pt x="1468743" y="0"/>
                </a:lnTo>
                <a:lnTo>
                  <a:pt x="1468743" y="1468743"/>
                </a:lnTo>
                <a:lnTo>
                  <a:pt x="0" y="14687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0">
            <a:off x="15790557" y="7632620"/>
            <a:ext cx="1468743" cy="1468743"/>
          </a:xfrm>
          <a:custGeom>
            <a:avLst/>
            <a:gdLst/>
            <a:ahLst/>
            <a:cxnLst/>
            <a:rect r="r" b="b" t="t" l="l"/>
            <a:pathLst>
              <a:path h="1468743" w="1468743">
                <a:moveTo>
                  <a:pt x="0" y="0"/>
                </a:moveTo>
                <a:lnTo>
                  <a:pt x="1468743" y="0"/>
                </a:lnTo>
                <a:lnTo>
                  <a:pt x="1468743" y="1468743"/>
                </a:lnTo>
                <a:lnTo>
                  <a:pt x="0" y="14687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570397" y="214353"/>
            <a:ext cx="3011088" cy="2697420"/>
          </a:xfrm>
          <a:custGeom>
            <a:avLst/>
            <a:gdLst/>
            <a:ahLst/>
            <a:cxnLst/>
            <a:rect r="r" b="b" t="t" l="l"/>
            <a:pathLst>
              <a:path h="2697420" w="3011088">
                <a:moveTo>
                  <a:pt x="0" y="0"/>
                </a:moveTo>
                <a:lnTo>
                  <a:pt x="3011088" y="0"/>
                </a:lnTo>
                <a:lnTo>
                  <a:pt x="3011088" y="2697421"/>
                </a:lnTo>
                <a:lnTo>
                  <a:pt x="0" y="2697421"/>
                </a:lnTo>
                <a:lnTo>
                  <a:pt x="0" y="0"/>
                </a:lnTo>
                <a:close/>
              </a:path>
            </a:pathLst>
          </a:custGeom>
          <a:blipFill>
            <a:blip r:embed="rId6"/>
            <a:stretch>
              <a:fillRect l="-1950" t="0" r="-2677" b="0"/>
            </a:stretch>
          </a:blipFill>
        </p:spPr>
      </p:sp>
      <p:sp>
        <p:nvSpPr>
          <p:cNvPr name="Freeform 22" id="22"/>
          <p:cNvSpPr/>
          <p:nvPr/>
        </p:nvSpPr>
        <p:spPr>
          <a:xfrm flipH="false" flipV="false" rot="0">
            <a:off x="15214352" y="214353"/>
            <a:ext cx="2723801" cy="2697420"/>
          </a:xfrm>
          <a:custGeom>
            <a:avLst/>
            <a:gdLst/>
            <a:ahLst/>
            <a:cxnLst/>
            <a:rect r="r" b="b" t="t" l="l"/>
            <a:pathLst>
              <a:path h="2697420" w="2723801">
                <a:moveTo>
                  <a:pt x="0" y="0"/>
                </a:moveTo>
                <a:lnTo>
                  <a:pt x="2723801" y="0"/>
                </a:lnTo>
                <a:lnTo>
                  <a:pt x="2723801" y="2697421"/>
                </a:lnTo>
                <a:lnTo>
                  <a:pt x="0" y="2697421"/>
                </a:lnTo>
                <a:lnTo>
                  <a:pt x="0" y="0"/>
                </a:lnTo>
                <a:close/>
              </a:path>
            </a:pathLst>
          </a:custGeom>
          <a:blipFill>
            <a:blip r:embed="rId7"/>
            <a:stretch>
              <a:fillRect l="0" t="0" r="0" b="0"/>
            </a:stretch>
          </a:blipFill>
          <a:ln cap="sq">
            <a:noFill/>
            <a:prstDash val="sysDot"/>
            <a:miter/>
          </a:ln>
        </p:spPr>
      </p:sp>
      <p:sp>
        <p:nvSpPr>
          <p:cNvPr name="TextBox 23" id="23"/>
          <p:cNvSpPr txBox="true"/>
          <p:nvPr/>
        </p:nvSpPr>
        <p:spPr>
          <a:xfrm rot="0">
            <a:off x="6519823" y="7993804"/>
            <a:ext cx="5248355" cy="732232"/>
          </a:xfrm>
          <a:prstGeom prst="rect">
            <a:avLst/>
          </a:prstGeom>
        </p:spPr>
        <p:txBody>
          <a:bodyPr anchor="t" rtlCol="false" tIns="0" lIns="0" bIns="0" rIns="0">
            <a:spAutoFit/>
          </a:bodyPr>
          <a:lstStyle/>
          <a:p>
            <a:pPr algn="ctr">
              <a:lnSpc>
                <a:spcPts val="2814"/>
              </a:lnSpc>
            </a:pPr>
            <a:r>
              <a:rPr lang="en-US" sz="2962" spc="-159">
                <a:solidFill>
                  <a:srgbClr val="172EB9"/>
                </a:solidFill>
                <a:latin typeface="Garet"/>
                <a:ea typeface="Garet"/>
                <a:cs typeface="Garet"/>
                <a:sym typeface="Garet"/>
              </a:rPr>
              <a:t>Presented by: Omar Saber Ali </a:t>
            </a:r>
          </a:p>
          <a:p>
            <a:pPr algn="ctr">
              <a:lnSpc>
                <a:spcPts val="2814"/>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72EB9"/>
        </a:solidFill>
      </p:bgPr>
    </p:bg>
    <p:spTree>
      <p:nvGrpSpPr>
        <p:cNvPr id="1" name=""/>
        <p:cNvGrpSpPr/>
        <p:nvPr/>
      </p:nvGrpSpPr>
      <p:grpSpPr>
        <a:xfrm>
          <a:off x="0" y="0"/>
          <a:ext cx="0" cy="0"/>
          <a:chOff x="0" y="0"/>
          <a:chExt cx="0" cy="0"/>
        </a:xfrm>
      </p:grpSpPr>
      <p:sp>
        <p:nvSpPr>
          <p:cNvPr name="Freeform 2" id="2"/>
          <p:cNvSpPr/>
          <p:nvPr/>
        </p:nvSpPr>
        <p:spPr>
          <a:xfrm flipH="false" flipV="false" rot="0">
            <a:off x="13283867" y="796105"/>
            <a:ext cx="4213713" cy="4114800"/>
          </a:xfrm>
          <a:custGeom>
            <a:avLst/>
            <a:gdLst/>
            <a:ahLst/>
            <a:cxnLst/>
            <a:rect r="r" b="b" t="t" l="l"/>
            <a:pathLst>
              <a:path h="4114800" w="4213713">
                <a:moveTo>
                  <a:pt x="0" y="0"/>
                </a:moveTo>
                <a:lnTo>
                  <a:pt x="4213713" y="0"/>
                </a:lnTo>
                <a:lnTo>
                  <a:pt x="421371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281049" y="847833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79294" y="2193840"/>
            <a:ext cx="2711430" cy="1543050"/>
          </a:xfrm>
          <a:custGeom>
            <a:avLst/>
            <a:gdLst/>
            <a:ahLst/>
            <a:cxnLst/>
            <a:rect r="r" b="b" t="t" l="l"/>
            <a:pathLst>
              <a:path h="1543050" w="2711430">
                <a:moveTo>
                  <a:pt x="0" y="0"/>
                </a:moveTo>
                <a:lnTo>
                  <a:pt x="2711429" y="0"/>
                </a:lnTo>
                <a:lnTo>
                  <a:pt x="2711429" y="1543050"/>
                </a:lnTo>
                <a:lnTo>
                  <a:pt x="0" y="15430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396978" y="1616955"/>
            <a:ext cx="8872758" cy="1410945"/>
          </a:xfrm>
          <a:prstGeom prst="rect">
            <a:avLst/>
          </a:prstGeom>
        </p:spPr>
        <p:txBody>
          <a:bodyPr anchor="t" rtlCol="false" tIns="0" lIns="0" bIns="0" rIns="0">
            <a:spAutoFit/>
          </a:bodyPr>
          <a:lstStyle/>
          <a:p>
            <a:pPr algn="l">
              <a:lnSpc>
                <a:spcPts val="10436"/>
              </a:lnSpc>
            </a:pPr>
            <a:r>
              <a:rPr lang="en-US" sz="10985" spc="-593">
                <a:solidFill>
                  <a:srgbClr val="CEFFAD"/>
                </a:solidFill>
                <a:latin typeface="Garet"/>
                <a:ea typeface="Garet"/>
                <a:cs typeface="Garet"/>
                <a:sym typeface="Garet"/>
              </a:rPr>
              <a:t>Outline</a:t>
            </a:r>
          </a:p>
        </p:txBody>
      </p:sp>
      <p:sp>
        <p:nvSpPr>
          <p:cNvPr name="TextBox 6" id="6"/>
          <p:cNvSpPr txBox="true"/>
          <p:nvPr/>
        </p:nvSpPr>
        <p:spPr>
          <a:xfrm rot="0">
            <a:off x="2807116" y="6238875"/>
            <a:ext cx="3537190" cy="838200"/>
          </a:xfrm>
          <a:prstGeom prst="rect">
            <a:avLst/>
          </a:prstGeom>
        </p:spPr>
        <p:txBody>
          <a:bodyPr anchor="t" rtlCol="false" tIns="0" lIns="0" bIns="0" rIns="0">
            <a:spAutoFit/>
          </a:bodyPr>
          <a:lstStyle/>
          <a:p>
            <a:pPr algn="l">
              <a:lnSpc>
                <a:spcPts val="3359"/>
              </a:lnSpc>
            </a:pPr>
            <a:r>
              <a:rPr lang="en-US" sz="2799" spc="-151">
                <a:solidFill>
                  <a:srgbClr val="CEFFAD"/>
                </a:solidFill>
                <a:latin typeface="Garet"/>
                <a:ea typeface="Garet"/>
                <a:cs typeface="Garet"/>
                <a:sym typeface="Garet"/>
              </a:rPr>
              <a:t>Project Overview</a:t>
            </a:r>
          </a:p>
          <a:p>
            <a:pPr algn="l">
              <a:lnSpc>
                <a:spcPts val="3359"/>
              </a:lnSpc>
            </a:pPr>
          </a:p>
        </p:txBody>
      </p:sp>
      <p:sp>
        <p:nvSpPr>
          <p:cNvPr name="TextBox 7" id="7"/>
          <p:cNvSpPr txBox="true"/>
          <p:nvPr/>
        </p:nvSpPr>
        <p:spPr>
          <a:xfrm rot="0">
            <a:off x="2807116" y="5343525"/>
            <a:ext cx="3226266" cy="895350"/>
          </a:xfrm>
          <a:prstGeom prst="rect">
            <a:avLst/>
          </a:prstGeom>
        </p:spPr>
        <p:txBody>
          <a:bodyPr anchor="t" rtlCol="false" tIns="0" lIns="0" bIns="0" rIns="0">
            <a:spAutoFit/>
          </a:bodyPr>
          <a:lstStyle/>
          <a:p>
            <a:pPr algn="l">
              <a:lnSpc>
                <a:spcPts val="7199"/>
              </a:lnSpc>
            </a:pPr>
            <a:r>
              <a:rPr lang="en-US" sz="5999" spc="-323" b="true">
                <a:solidFill>
                  <a:srgbClr val="CEFFAD"/>
                </a:solidFill>
                <a:latin typeface="Garet Bold"/>
                <a:ea typeface="Garet Bold"/>
                <a:cs typeface="Garet Bold"/>
                <a:sym typeface="Garet Bold"/>
              </a:rPr>
              <a:t>01</a:t>
            </a:r>
          </a:p>
        </p:txBody>
      </p:sp>
      <p:sp>
        <p:nvSpPr>
          <p:cNvPr name="TextBox 8" id="8"/>
          <p:cNvSpPr txBox="true"/>
          <p:nvPr/>
        </p:nvSpPr>
        <p:spPr>
          <a:xfrm rot="0">
            <a:off x="2807116" y="8268789"/>
            <a:ext cx="3003168" cy="838200"/>
          </a:xfrm>
          <a:prstGeom prst="rect">
            <a:avLst/>
          </a:prstGeom>
        </p:spPr>
        <p:txBody>
          <a:bodyPr anchor="t" rtlCol="false" tIns="0" lIns="0" bIns="0" rIns="0">
            <a:spAutoFit/>
          </a:bodyPr>
          <a:lstStyle/>
          <a:p>
            <a:pPr algn="l">
              <a:lnSpc>
                <a:spcPts val="3359"/>
              </a:lnSpc>
            </a:pPr>
            <a:r>
              <a:rPr lang="en-US" sz="2799" spc="-151">
                <a:solidFill>
                  <a:srgbClr val="CEFFAD"/>
                </a:solidFill>
                <a:latin typeface="Garet"/>
                <a:ea typeface="Garet"/>
                <a:cs typeface="Garet"/>
                <a:sym typeface="Garet"/>
              </a:rPr>
              <a:t>Mathematical Formulation</a:t>
            </a:r>
          </a:p>
        </p:txBody>
      </p:sp>
      <p:sp>
        <p:nvSpPr>
          <p:cNvPr name="TextBox 9" id="9"/>
          <p:cNvSpPr txBox="true"/>
          <p:nvPr/>
        </p:nvSpPr>
        <p:spPr>
          <a:xfrm rot="0">
            <a:off x="2807116" y="7373439"/>
            <a:ext cx="3226266" cy="895350"/>
          </a:xfrm>
          <a:prstGeom prst="rect">
            <a:avLst/>
          </a:prstGeom>
        </p:spPr>
        <p:txBody>
          <a:bodyPr anchor="t" rtlCol="false" tIns="0" lIns="0" bIns="0" rIns="0">
            <a:spAutoFit/>
          </a:bodyPr>
          <a:lstStyle/>
          <a:p>
            <a:pPr algn="l">
              <a:lnSpc>
                <a:spcPts val="7199"/>
              </a:lnSpc>
            </a:pPr>
            <a:r>
              <a:rPr lang="en-US" sz="5999" spc="-323" b="true">
                <a:solidFill>
                  <a:srgbClr val="CEFFAD"/>
                </a:solidFill>
                <a:latin typeface="Garet Bold"/>
                <a:ea typeface="Garet Bold"/>
                <a:cs typeface="Garet Bold"/>
                <a:sym typeface="Garet Bold"/>
              </a:rPr>
              <a:t>05</a:t>
            </a:r>
          </a:p>
        </p:txBody>
      </p:sp>
      <p:sp>
        <p:nvSpPr>
          <p:cNvPr name="TextBox 10" id="10"/>
          <p:cNvSpPr txBox="true"/>
          <p:nvPr/>
        </p:nvSpPr>
        <p:spPr>
          <a:xfrm rot="0">
            <a:off x="6529073" y="6238875"/>
            <a:ext cx="3226266" cy="838200"/>
          </a:xfrm>
          <a:prstGeom prst="rect">
            <a:avLst/>
          </a:prstGeom>
        </p:spPr>
        <p:txBody>
          <a:bodyPr anchor="t" rtlCol="false" tIns="0" lIns="0" bIns="0" rIns="0">
            <a:spAutoFit/>
          </a:bodyPr>
          <a:lstStyle/>
          <a:p>
            <a:pPr algn="l">
              <a:lnSpc>
                <a:spcPts val="3359"/>
              </a:lnSpc>
            </a:pPr>
            <a:r>
              <a:rPr lang="en-US" sz="2799" spc="-151">
                <a:solidFill>
                  <a:srgbClr val="CEFFAD"/>
                </a:solidFill>
                <a:latin typeface="Garet"/>
                <a:ea typeface="Garet"/>
                <a:cs typeface="Garet"/>
                <a:sym typeface="Garet"/>
              </a:rPr>
              <a:t>Dataset &amp; Preprocessing</a:t>
            </a:r>
          </a:p>
        </p:txBody>
      </p:sp>
      <p:sp>
        <p:nvSpPr>
          <p:cNvPr name="TextBox 11" id="11"/>
          <p:cNvSpPr txBox="true"/>
          <p:nvPr/>
        </p:nvSpPr>
        <p:spPr>
          <a:xfrm rot="0">
            <a:off x="6529073" y="5343525"/>
            <a:ext cx="3226266" cy="895350"/>
          </a:xfrm>
          <a:prstGeom prst="rect">
            <a:avLst/>
          </a:prstGeom>
        </p:spPr>
        <p:txBody>
          <a:bodyPr anchor="t" rtlCol="false" tIns="0" lIns="0" bIns="0" rIns="0">
            <a:spAutoFit/>
          </a:bodyPr>
          <a:lstStyle/>
          <a:p>
            <a:pPr algn="l">
              <a:lnSpc>
                <a:spcPts val="7199"/>
              </a:lnSpc>
            </a:pPr>
            <a:r>
              <a:rPr lang="en-US" sz="5999" spc="-323" b="true">
                <a:solidFill>
                  <a:srgbClr val="CEFFAD"/>
                </a:solidFill>
                <a:latin typeface="Garet Bold"/>
                <a:ea typeface="Garet Bold"/>
                <a:cs typeface="Garet Bold"/>
                <a:sym typeface="Garet Bold"/>
              </a:rPr>
              <a:t>02</a:t>
            </a:r>
          </a:p>
        </p:txBody>
      </p:sp>
      <p:sp>
        <p:nvSpPr>
          <p:cNvPr name="TextBox 12" id="12"/>
          <p:cNvSpPr txBox="true"/>
          <p:nvPr/>
        </p:nvSpPr>
        <p:spPr>
          <a:xfrm rot="0">
            <a:off x="6529073" y="8268789"/>
            <a:ext cx="3226266" cy="838200"/>
          </a:xfrm>
          <a:prstGeom prst="rect">
            <a:avLst/>
          </a:prstGeom>
        </p:spPr>
        <p:txBody>
          <a:bodyPr anchor="t" rtlCol="false" tIns="0" lIns="0" bIns="0" rIns="0">
            <a:spAutoFit/>
          </a:bodyPr>
          <a:lstStyle/>
          <a:p>
            <a:pPr algn="l">
              <a:lnSpc>
                <a:spcPts val="3359"/>
              </a:lnSpc>
            </a:pPr>
            <a:r>
              <a:rPr lang="en-US" sz="2799" spc="-151">
                <a:solidFill>
                  <a:srgbClr val="CEFFAD"/>
                </a:solidFill>
                <a:latin typeface="Garet"/>
                <a:ea typeface="Garet"/>
                <a:cs typeface="Garet"/>
                <a:sym typeface="Garet"/>
              </a:rPr>
              <a:t>Results &amp; Discussion</a:t>
            </a:r>
          </a:p>
        </p:txBody>
      </p:sp>
      <p:sp>
        <p:nvSpPr>
          <p:cNvPr name="TextBox 13" id="13"/>
          <p:cNvSpPr txBox="true"/>
          <p:nvPr/>
        </p:nvSpPr>
        <p:spPr>
          <a:xfrm rot="0">
            <a:off x="6529073" y="7373439"/>
            <a:ext cx="3226266" cy="895350"/>
          </a:xfrm>
          <a:prstGeom prst="rect">
            <a:avLst/>
          </a:prstGeom>
        </p:spPr>
        <p:txBody>
          <a:bodyPr anchor="t" rtlCol="false" tIns="0" lIns="0" bIns="0" rIns="0">
            <a:spAutoFit/>
          </a:bodyPr>
          <a:lstStyle/>
          <a:p>
            <a:pPr algn="l">
              <a:lnSpc>
                <a:spcPts val="7199"/>
              </a:lnSpc>
            </a:pPr>
            <a:r>
              <a:rPr lang="en-US" sz="5999" spc="-323" b="true">
                <a:solidFill>
                  <a:srgbClr val="CEFFAD"/>
                </a:solidFill>
                <a:latin typeface="Garet Bold"/>
                <a:ea typeface="Garet Bold"/>
                <a:cs typeface="Garet Bold"/>
                <a:sym typeface="Garet Bold"/>
              </a:rPr>
              <a:t>06</a:t>
            </a:r>
          </a:p>
        </p:txBody>
      </p:sp>
      <p:sp>
        <p:nvSpPr>
          <p:cNvPr name="TextBox 14" id="14"/>
          <p:cNvSpPr txBox="true"/>
          <p:nvPr/>
        </p:nvSpPr>
        <p:spPr>
          <a:xfrm rot="0">
            <a:off x="10250638" y="6238875"/>
            <a:ext cx="3226266" cy="838200"/>
          </a:xfrm>
          <a:prstGeom prst="rect">
            <a:avLst/>
          </a:prstGeom>
        </p:spPr>
        <p:txBody>
          <a:bodyPr anchor="t" rtlCol="false" tIns="0" lIns="0" bIns="0" rIns="0">
            <a:spAutoFit/>
          </a:bodyPr>
          <a:lstStyle/>
          <a:p>
            <a:pPr algn="l">
              <a:lnSpc>
                <a:spcPts val="3359"/>
              </a:lnSpc>
            </a:pPr>
            <a:r>
              <a:rPr lang="en-US" sz="2799" spc="-151">
                <a:solidFill>
                  <a:srgbClr val="CEFFAD"/>
                </a:solidFill>
                <a:latin typeface="Garet"/>
                <a:ea typeface="Garet"/>
                <a:cs typeface="Garet"/>
                <a:sym typeface="Garet"/>
              </a:rPr>
              <a:t>Machine Learning Models</a:t>
            </a:r>
          </a:p>
        </p:txBody>
      </p:sp>
      <p:sp>
        <p:nvSpPr>
          <p:cNvPr name="TextBox 15" id="15"/>
          <p:cNvSpPr txBox="true"/>
          <p:nvPr/>
        </p:nvSpPr>
        <p:spPr>
          <a:xfrm rot="0">
            <a:off x="10250638" y="5343525"/>
            <a:ext cx="3226266" cy="895350"/>
          </a:xfrm>
          <a:prstGeom prst="rect">
            <a:avLst/>
          </a:prstGeom>
        </p:spPr>
        <p:txBody>
          <a:bodyPr anchor="t" rtlCol="false" tIns="0" lIns="0" bIns="0" rIns="0">
            <a:spAutoFit/>
          </a:bodyPr>
          <a:lstStyle/>
          <a:p>
            <a:pPr algn="l">
              <a:lnSpc>
                <a:spcPts val="7199"/>
              </a:lnSpc>
            </a:pPr>
            <a:r>
              <a:rPr lang="en-US" sz="5999" spc="-323" b="true">
                <a:solidFill>
                  <a:srgbClr val="CEFFAD"/>
                </a:solidFill>
                <a:latin typeface="Garet Bold"/>
                <a:ea typeface="Garet Bold"/>
                <a:cs typeface="Garet Bold"/>
                <a:sym typeface="Garet Bold"/>
              </a:rPr>
              <a:t>03</a:t>
            </a:r>
          </a:p>
        </p:txBody>
      </p:sp>
      <p:sp>
        <p:nvSpPr>
          <p:cNvPr name="TextBox 16" id="16"/>
          <p:cNvSpPr txBox="true"/>
          <p:nvPr/>
        </p:nvSpPr>
        <p:spPr>
          <a:xfrm rot="0">
            <a:off x="10250638" y="8268789"/>
            <a:ext cx="3226266" cy="419100"/>
          </a:xfrm>
          <a:prstGeom prst="rect">
            <a:avLst/>
          </a:prstGeom>
        </p:spPr>
        <p:txBody>
          <a:bodyPr anchor="t" rtlCol="false" tIns="0" lIns="0" bIns="0" rIns="0">
            <a:spAutoFit/>
          </a:bodyPr>
          <a:lstStyle/>
          <a:p>
            <a:pPr algn="l">
              <a:lnSpc>
                <a:spcPts val="3359"/>
              </a:lnSpc>
            </a:pPr>
            <a:r>
              <a:rPr lang="en-US" sz="2799" spc="-151">
                <a:solidFill>
                  <a:srgbClr val="CEFFAD"/>
                </a:solidFill>
                <a:latin typeface="Garet"/>
                <a:ea typeface="Garet"/>
                <a:cs typeface="Garet"/>
                <a:sym typeface="Garet"/>
              </a:rPr>
              <a:t>Thank You </a:t>
            </a:r>
          </a:p>
        </p:txBody>
      </p:sp>
      <p:sp>
        <p:nvSpPr>
          <p:cNvPr name="TextBox 17" id="17"/>
          <p:cNvSpPr txBox="true"/>
          <p:nvPr/>
        </p:nvSpPr>
        <p:spPr>
          <a:xfrm rot="0">
            <a:off x="10250638" y="7373439"/>
            <a:ext cx="3226266" cy="895350"/>
          </a:xfrm>
          <a:prstGeom prst="rect">
            <a:avLst/>
          </a:prstGeom>
        </p:spPr>
        <p:txBody>
          <a:bodyPr anchor="t" rtlCol="false" tIns="0" lIns="0" bIns="0" rIns="0">
            <a:spAutoFit/>
          </a:bodyPr>
          <a:lstStyle/>
          <a:p>
            <a:pPr algn="l">
              <a:lnSpc>
                <a:spcPts val="7199"/>
              </a:lnSpc>
            </a:pPr>
            <a:r>
              <a:rPr lang="en-US" sz="5999" spc="-323" b="true">
                <a:solidFill>
                  <a:srgbClr val="CEFFAD"/>
                </a:solidFill>
                <a:latin typeface="Garet Bold"/>
                <a:ea typeface="Garet Bold"/>
                <a:cs typeface="Garet Bold"/>
                <a:sym typeface="Garet Bold"/>
              </a:rPr>
              <a:t>07</a:t>
            </a:r>
          </a:p>
        </p:txBody>
      </p:sp>
      <p:sp>
        <p:nvSpPr>
          <p:cNvPr name="TextBox 18" id="18"/>
          <p:cNvSpPr txBox="true"/>
          <p:nvPr/>
        </p:nvSpPr>
        <p:spPr>
          <a:xfrm rot="0">
            <a:off x="13972204" y="6238875"/>
            <a:ext cx="3525377" cy="838200"/>
          </a:xfrm>
          <a:prstGeom prst="rect">
            <a:avLst/>
          </a:prstGeom>
        </p:spPr>
        <p:txBody>
          <a:bodyPr anchor="t" rtlCol="false" tIns="0" lIns="0" bIns="0" rIns="0">
            <a:spAutoFit/>
          </a:bodyPr>
          <a:lstStyle/>
          <a:p>
            <a:pPr algn="l">
              <a:lnSpc>
                <a:spcPts val="3359"/>
              </a:lnSpc>
            </a:pPr>
            <a:r>
              <a:rPr lang="en-US" sz="2799" spc="-151">
                <a:solidFill>
                  <a:srgbClr val="CEFFAD"/>
                </a:solidFill>
                <a:latin typeface="Garet"/>
                <a:ea typeface="Garet"/>
                <a:cs typeface="Garet"/>
                <a:sym typeface="Garet"/>
              </a:rPr>
              <a:t>Optimization Algorithms</a:t>
            </a:r>
          </a:p>
        </p:txBody>
      </p:sp>
      <p:sp>
        <p:nvSpPr>
          <p:cNvPr name="TextBox 19" id="19"/>
          <p:cNvSpPr txBox="true"/>
          <p:nvPr/>
        </p:nvSpPr>
        <p:spPr>
          <a:xfrm rot="0">
            <a:off x="13972204" y="5343525"/>
            <a:ext cx="3226266" cy="895350"/>
          </a:xfrm>
          <a:prstGeom prst="rect">
            <a:avLst/>
          </a:prstGeom>
        </p:spPr>
        <p:txBody>
          <a:bodyPr anchor="t" rtlCol="false" tIns="0" lIns="0" bIns="0" rIns="0">
            <a:spAutoFit/>
          </a:bodyPr>
          <a:lstStyle/>
          <a:p>
            <a:pPr algn="l">
              <a:lnSpc>
                <a:spcPts val="7199"/>
              </a:lnSpc>
            </a:pPr>
            <a:r>
              <a:rPr lang="en-US" sz="5999" spc="-323" b="true">
                <a:solidFill>
                  <a:srgbClr val="CEFFAD"/>
                </a:solidFill>
                <a:latin typeface="Garet Bold"/>
                <a:ea typeface="Garet Bold"/>
                <a:cs typeface="Garet Bold"/>
                <a:sym typeface="Garet Bold"/>
              </a:rPr>
              <a:t>04</a:t>
            </a:r>
          </a:p>
        </p:txBody>
      </p:sp>
      <p:sp>
        <p:nvSpPr>
          <p:cNvPr name="TextBox 20" id="20"/>
          <p:cNvSpPr txBox="true"/>
          <p:nvPr/>
        </p:nvSpPr>
        <p:spPr>
          <a:xfrm rot="0">
            <a:off x="13972204" y="8268789"/>
            <a:ext cx="3226266" cy="419100"/>
          </a:xfrm>
          <a:prstGeom prst="rect">
            <a:avLst/>
          </a:prstGeom>
        </p:spPr>
        <p:txBody>
          <a:bodyPr anchor="t" rtlCol="false" tIns="0" lIns="0" bIns="0" rIns="0">
            <a:spAutoFit/>
          </a:bodyPr>
          <a:lstStyle/>
          <a:p>
            <a:pPr algn="l">
              <a:lnSpc>
                <a:spcPts val="3359"/>
              </a:lnSpc>
            </a:pPr>
            <a:r>
              <a:rPr lang="en-US" sz="2799" spc="-151">
                <a:solidFill>
                  <a:srgbClr val="CEFFAD"/>
                </a:solidFill>
                <a:latin typeface="Garet"/>
                <a:ea typeface="Garet"/>
                <a:cs typeface="Garet"/>
                <a:sym typeface="Garet"/>
              </a:rPr>
              <a:t>Thank You </a:t>
            </a:r>
          </a:p>
        </p:txBody>
      </p:sp>
      <p:sp>
        <p:nvSpPr>
          <p:cNvPr name="TextBox 21" id="21"/>
          <p:cNvSpPr txBox="true"/>
          <p:nvPr/>
        </p:nvSpPr>
        <p:spPr>
          <a:xfrm rot="0">
            <a:off x="13972204" y="7373439"/>
            <a:ext cx="3226266" cy="895350"/>
          </a:xfrm>
          <a:prstGeom prst="rect">
            <a:avLst/>
          </a:prstGeom>
        </p:spPr>
        <p:txBody>
          <a:bodyPr anchor="t" rtlCol="false" tIns="0" lIns="0" bIns="0" rIns="0">
            <a:spAutoFit/>
          </a:bodyPr>
          <a:lstStyle/>
          <a:p>
            <a:pPr algn="l">
              <a:lnSpc>
                <a:spcPts val="7199"/>
              </a:lnSpc>
            </a:pPr>
            <a:r>
              <a:rPr lang="en-US" sz="5999" spc="-323" b="true">
                <a:solidFill>
                  <a:srgbClr val="CEFFAD"/>
                </a:solidFill>
                <a:latin typeface="Garet Bold"/>
                <a:ea typeface="Garet Bold"/>
                <a:cs typeface="Garet Bold"/>
                <a:sym typeface="Garet Bold"/>
              </a:rPr>
              <a:t>08</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8E7E3"/>
        </a:solidFill>
      </p:bgPr>
    </p:bg>
    <p:spTree>
      <p:nvGrpSpPr>
        <p:cNvPr id="1" name=""/>
        <p:cNvGrpSpPr/>
        <p:nvPr/>
      </p:nvGrpSpPr>
      <p:grpSpPr>
        <a:xfrm>
          <a:off x="0" y="0"/>
          <a:ext cx="0" cy="0"/>
          <a:chOff x="0" y="0"/>
          <a:chExt cx="0" cy="0"/>
        </a:xfrm>
      </p:grpSpPr>
      <p:sp>
        <p:nvSpPr>
          <p:cNvPr name="Freeform 2" id="2"/>
          <p:cNvSpPr/>
          <p:nvPr/>
        </p:nvSpPr>
        <p:spPr>
          <a:xfrm flipH="false" flipV="false" rot="0">
            <a:off x="6895865" y="2171448"/>
            <a:ext cx="1239030" cy="1344918"/>
          </a:xfrm>
          <a:custGeom>
            <a:avLst/>
            <a:gdLst/>
            <a:ahLst/>
            <a:cxnLst/>
            <a:rect r="r" b="b" t="t" l="l"/>
            <a:pathLst>
              <a:path h="1344918" w="1239030">
                <a:moveTo>
                  <a:pt x="0" y="0"/>
                </a:moveTo>
                <a:lnTo>
                  <a:pt x="1239030" y="0"/>
                </a:lnTo>
                <a:lnTo>
                  <a:pt x="1239030" y="1344918"/>
                </a:lnTo>
                <a:lnTo>
                  <a:pt x="0" y="13449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11914" y="1512939"/>
            <a:ext cx="13082821" cy="1612292"/>
          </a:xfrm>
          <a:prstGeom prst="rect">
            <a:avLst/>
          </a:prstGeom>
        </p:spPr>
        <p:txBody>
          <a:bodyPr anchor="t" rtlCol="false" tIns="0" lIns="0" bIns="0" rIns="0">
            <a:spAutoFit/>
          </a:bodyPr>
          <a:lstStyle/>
          <a:p>
            <a:pPr algn="l">
              <a:lnSpc>
                <a:spcPts val="11934"/>
              </a:lnSpc>
            </a:pPr>
            <a:r>
              <a:rPr lang="en-US" sz="12562" spc="-678">
                <a:solidFill>
                  <a:srgbClr val="172EB9"/>
                </a:solidFill>
                <a:latin typeface="Garet"/>
                <a:ea typeface="Garet"/>
                <a:cs typeface="Garet"/>
                <a:sym typeface="Garet"/>
              </a:rPr>
              <a:t>Project Overview!</a:t>
            </a:r>
          </a:p>
        </p:txBody>
      </p:sp>
      <p:sp>
        <p:nvSpPr>
          <p:cNvPr name="AutoShape 4" id="4"/>
          <p:cNvSpPr/>
          <p:nvPr/>
        </p:nvSpPr>
        <p:spPr>
          <a:xfrm>
            <a:off x="4269260" y="3149044"/>
            <a:ext cx="6492240" cy="0"/>
          </a:xfrm>
          <a:prstGeom prst="line">
            <a:avLst/>
          </a:prstGeom>
          <a:ln cap="flat" w="47625">
            <a:solidFill>
              <a:srgbClr val="172EB9"/>
            </a:solidFill>
            <a:prstDash val="solid"/>
            <a:headEnd type="none" len="sm" w="sm"/>
            <a:tailEnd type="none" len="sm" w="sm"/>
          </a:ln>
        </p:spPr>
      </p:sp>
      <p:sp>
        <p:nvSpPr>
          <p:cNvPr name="Freeform 5" id="5"/>
          <p:cNvSpPr/>
          <p:nvPr/>
        </p:nvSpPr>
        <p:spPr>
          <a:xfrm flipH="false" flipV="false" rot="0">
            <a:off x="14725476" y="6659281"/>
            <a:ext cx="1816270" cy="1827124"/>
          </a:xfrm>
          <a:custGeom>
            <a:avLst/>
            <a:gdLst/>
            <a:ahLst/>
            <a:cxnLst/>
            <a:rect r="r" b="b" t="t" l="l"/>
            <a:pathLst>
              <a:path h="1827124" w="1816270">
                <a:moveTo>
                  <a:pt x="0" y="0"/>
                </a:moveTo>
                <a:lnTo>
                  <a:pt x="1816270" y="0"/>
                </a:lnTo>
                <a:lnTo>
                  <a:pt x="1816270" y="1827124"/>
                </a:lnTo>
                <a:lnTo>
                  <a:pt x="0" y="18271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759439" y="6681690"/>
            <a:ext cx="1782307" cy="1782307"/>
          </a:xfrm>
          <a:custGeom>
            <a:avLst/>
            <a:gdLst/>
            <a:ahLst/>
            <a:cxnLst/>
            <a:rect r="r" b="b" t="t" l="l"/>
            <a:pathLst>
              <a:path h="1782307" w="1782307">
                <a:moveTo>
                  <a:pt x="0" y="0"/>
                </a:moveTo>
                <a:lnTo>
                  <a:pt x="1782307" y="0"/>
                </a:lnTo>
                <a:lnTo>
                  <a:pt x="1782307" y="1782307"/>
                </a:lnTo>
                <a:lnTo>
                  <a:pt x="0" y="17823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594360" y="8047244"/>
            <a:ext cx="1435108" cy="1435108"/>
          </a:xfrm>
          <a:custGeom>
            <a:avLst/>
            <a:gdLst/>
            <a:ahLst/>
            <a:cxnLst/>
            <a:rect r="r" b="b" t="t" l="l"/>
            <a:pathLst>
              <a:path h="1435108" w="1435108">
                <a:moveTo>
                  <a:pt x="0" y="0"/>
                </a:moveTo>
                <a:lnTo>
                  <a:pt x="1435108" y="0"/>
                </a:lnTo>
                <a:lnTo>
                  <a:pt x="1435108" y="1435108"/>
                </a:lnTo>
                <a:lnTo>
                  <a:pt x="0" y="14351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1676618" y="3516366"/>
            <a:ext cx="13082821" cy="5819775"/>
          </a:xfrm>
          <a:prstGeom prst="rect">
            <a:avLst/>
          </a:prstGeom>
        </p:spPr>
        <p:txBody>
          <a:bodyPr anchor="t" rtlCol="false" tIns="0" lIns="0" bIns="0" rIns="0">
            <a:spAutoFit/>
          </a:bodyPr>
          <a:lstStyle/>
          <a:p>
            <a:pPr algn="l">
              <a:lnSpc>
                <a:spcPts val="3558"/>
              </a:lnSpc>
            </a:pPr>
            <a:r>
              <a:rPr lang="en-US" sz="2965" spc="-160" b="true">
                <a:solidFill>
                  <a:srgbClr val="172EB9"/>
                </a:solidFill>
                <a:latin typeface="Garet Bold"/>
                <a:ea typeface="Garet Bold"/>
                <a:cs typeface="Garet Bold"/>
                <a:sym typeface="Garet Bold"/>
              </a:rPr>
              <a:t>Smoking status prediction is an important healthcare problem that helps in identifying potential health risks using biological and medical indicators such as hemoglobin, cholesterol, blood pressure, and liver enzymes.</a:t>
            </a:r>
          </a:p>
          <a:p>
            <a:pPr algn="l">
              <a:lnSpc>
                <a:spcPts val="3558"/>
              </a:lnSpc>
            </a:pPr>
            <a:r>
              <a:rPr lang="en-US" sz="2965" spc="-160" b="true">
                <a:solidFill>
                  <a:srgbClr val="172EB9"/>
                </a:solidFill>
                <a:latin typeface="Garet Bold"/>
                <a:ea typeface="Garet Bold"/>
                <a:cs typeface="Garet Bold"/>
                <a:sym typeface="Garet Bold"/>
              </a:rPr>
              <a:t>Traditional machine learning models often rely on default hyperparameters, which may not provide optimal performance for medical datasets. In addition, manual hyperparameter tuning is time-consuming and may lead to suboptimal solutions.</a:t>
            </a:r>
          </a:p>
          <a:p>
            <a:pPr algn="l">
              <a:lnSpc>
                <a:spcPts val="3558"/>
              </a:lnSpc>
            </a:pPr>
            <a:r>
              <a:rPr lang="en-US" sz="2965" spc="-160" b="true">
                <a:solidFill>
                  <a:srgbClr val="172EB9"/>
                </a:solidFill>
                <a:latin typeface="Garet Bold"/>
                <a:ea typeface="Garet Bold"/>
                <a:cs typeface="Garet Bold"/>
                <a:sym typeface="Garet Bold"/>
              </a:rPr>
              <a:t>In this project, machine learning models such as SVM and XGBoost are combined with advanced optimization algorithms including Grey Wolf Optimizer (GWO) and Hybrid PSOGSA to automatically search for the best hyperparameters and improve prediction accuracy.</a:t>
            </a:r>
          </a:p>
          <a:p>
            <a:pPr algn="l">
              <a:lnSpc>
                <a:spcPts val="3558"/>
              </a:lnSpc>
            </a:pPr>
          </a:p>
        </p:txBody>
      </p:sp>
      <p:sp>
        <p:nvSpPr>
          <p:cNvPr name="Freeform 9" id="9"/>
          <p:cNvSpPr/>
          <p:nvPr/>
        </p:nvSpPr>
        <p:spPr>
          <a:xfrm flipH="false" flipV="true" rot="0">
            <a:off x="594360" y="736340"/>
            <a:ext cx="1435108" cy="1435108"/>
          </a:xfrm>
          <a:custGeom>
            <a:avLst/>
            <a:gdLst/>
            <a:ahLst/>
            <a:cxnLst/>
            <a:rect r="r" b="b" t="t" l="l"/>
            <a:pathLst>
              <a:path h="1435108" w="1435108">
                <a:moveTo>
                  <a:pt x="0" y="1435108"/>
                </a:moveTo>
                <a:lnTo>
                  <a:pt x="1435108" y="1435108"/>
                </a:lnTo>
                <a:lnTo>
                  <a:pt x="1435108" y="0"/>
                </a:lnTo>
                <a:lnTo>
                  <a:pt x="0" y="0"/>
                </a:lnTo>
                <a:lnTo>
                  <a:pt x="0" y="1435108"/>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true" flipV="false" rot="0">
            <a:off x="15824192" y="8047244"/>
            <a:ext cx="1435108" cy="1435108"/>
          </a:xfrm>
          <a:custGeom>
            <a:avLst/>
            <a:gdLst/>
            <a:ahLst/>
            <a:cxnLst/>
            <a:rect r="r" b="b" t="t" l="l"/>
            <a:pathLst>
              <a:path h="1435108" w="1435108">
                <a:moveTo>
                  <a:pt x="1435108" y="0"/>
                </a:moveTo>
                <a:lnTo>
                  <a:pt x="0" y="0"/>
                </a:lnTo>
                <a:lnTo>
                  <a:pt x="0" y="1435108"/>
                </a:lnTo>
                <a:lnTo>
                  <a:pt x="1435108" y="1435108"/>
                </a:lnTo>
                <a:lnTo>
                  <a:pt x="143510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true" flipV="true" rot="0">
            <a:off x="15824192" y="736340"/>
            <a:ext cx="1435108" cy="1435108"/>
          </a:xfrm>
          <a:custGeom>
            <a:avLst/>
            <a:gdLst/>
            <a:ahLst/>
            <a:cxnLst/>
            <a:rect r="r" b="b" t="t" l="l"/>
            <a:pathLst>
              <a:path h="1435108" w="1435108">
                <a:moveTo>
                  <a:pt x="1435108" y="1435108"/>
                </a:moveTo>
                <a:lnTo>
                  <a:pt x="0" y="1435108"/>
                </a:lnTo>
                <a:lnTo>
                  <a:pt x="0" y="0"/>
                </a:lnTo>
                <a:lnTo>
                  <a:pt x="1435108" y="0"/>
                </a:lnTo>
                <a:lnTo>
                  <a:pt x="1435108" y="1435108"/>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72EB9"/>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3383627" y="1359780"/>
            <a:ext cx="3944871" cy="7391458"/>
            <a:chOff x="0" y="0"/>
            <a:chExt cx="3388360" cy="6348730"/>
          </a:xfrm>
        </p:grpSpPr>
        <p:sp>
          <p:nvSpPr>
            <p:cNvPr name="Freeform 3" id="3"/>
            <p:cNvSpPr/>
            <p:nvPr/>
          </p:nvSpPr>
          <p:spPr>
            <a:xfrm flipH="false" flipV="false" rot="0">
              <a:off x="4440" y="4559"/>
              <a:ext cx="3379479" cy="6340883"/>
            </a:xfrm>
            <a:custGeom>
              <a:avLst/>
              <a:gdLst/>
              <a:ahLst/>
              <a:cxnLst/>
              <a:rect r="r" b="b" t="t" l="l"/>
              <a:pathLst>
                <a:path h="6340883" w="3379479">
                  <a:moveTo>
                    <a:pt x="3150240" y="1689621"/>
                  </a:moveTo>
                  <a:cubicBezTo>
                    <a:pt x="3836040" y="504711"/>
                    <a:pt x="2874650" y="-456679"/>
                    <a:pt x="1689740" y="229121"/>
                  </a:cubicBezTo>
                  <a:cubicBezTo>
                    <a:pt x="504830" y="-456679"/>
                    <a:pt x="-456560" y="504711"/>
                    <a:pt x="229240" y="1689621"/>
                  </a:cubicBezTo>
                  <a:cubicBezTo>
                    <a:pt x="-132710" y="2315731"/>
                    <a:pt x="-36190" y="2878341"/>
                    <a:pt x="310520" y="3170441"/>
                  </a:cubicBezTo>
                  <a:cubicBezTo>
                    <a:pt x="-36190" y="3462541"/>
                    <a:pt x="-132710" y="4025151"/>
                    <a:pt x="229240" y="4651261"/>
                  </a:cubicBezTo>
                  <a:cubicBezTo>
                    <a:pt x="-456560" y="5836171"/>
                    <a:pt x="504830" y="6797561"/>
                    <a:pt x="1689740" y="6111761"/>
                  </a:cubicBezTo>
                  <a:cubicBezTo>
                    <a:pt x="2874650" y="6797561"/>
                    <a:pt x="3836040" y="5836171"/>
                    <a:pt x="3150240" y="4651261"/>
                  </a:cubicBezTo>
                  <a:cubicBezTo>
                    <a:pt x="3512190" y="4025151"/>
                    <a:pt x="3415670" y="3462541"/>
                    <a:pt x="3068960" y="3170441"/>
                  </a:cubicBezTo>
                  <a:cubicBezTo>
                    <a:pt x="3415670" y="2878341"/>
                    <a:pt x="3512190" y="2314461"/>
                    <a:pt x="3150240" y="1689621"/>
                  </a:cubicBezTo>
                  <a:close/>
                </a:path>
              </a:pathLst>
            </a:custGeom>
            <a:solidFill>
              <a:srgbClr val="CEFFAD"/>
            </a:solidFill>
          </p:spPr>
        </p:sp>
        <p:sp>
          <p:nvSpPr>
            <p:cNvPr name="Freeform 4" id="4"/>
            <p:cNvSpPr/>
            <p:nvPr/>
          </p:nvSpPr>
          <p:spPr>
            <a:xfrm flipH="false" flipV="false" rot="0">
              <a:off x="16176" y="16510"/>
              <a:ext cx="3354738" cy="6314440"/>
            </a:xfrm>
            <a:custGeom>
              <a:avLst/>
              <a:gdLst/>
              <a:ahLst/>
              <a:cxnLst/>
              <a:rect r="r" b="b" t="t" l="l"/>
              <a:pathLst>
                <a:path h="6314440" w="3354738">
                  <a:moveTo>
                    <a:pt x="2446354" y="6314440"/>
                  </a:moveTo>
                  <a:cubicBezTo>
                    <a:pt x="2205054" y="6314440"/>
                    <a:pt x="1940894" y="6235700"/>
                    <a:pt x="1684354" y="6087110"/>
                  </a:cubicBezTo>
                  <a:lnTo>
                    <a:pt x="1678004" y="6083300"/>
                  </a:lnTo>
                  <a:lnTo>
                    <a:pt x="1671654" y="6087110"/>
                  </a:lnTo>
                  <a:cubicBezTo>
                    <a:pt x="1415114" y="6235700"/>
                    <a:pt x="1150954" y="6314440"/>
                    <a:pt x="909654" y="6314440"/>
                  </a:cubicBezTo>
                  <a:cubicBezTo>
                    <a:pt x="566754" y="6314440"/>
                    <a:pt x="279734" y="6159500"/>
                    <a:pt x="123524" y="5887720"/>
                  </a:cubicBezTo>
                  <a:cubicBezTo>
                    <a:pt x="-72056" y="5549900"/>
                    <a:pt x="-33956" y="5095240"/>
                    <a:pt x="227664" y="4643120"/>
                  </a:cubicBezTo>
                  <a:lnTo>
                    <a:pt x="231474" y="4636770"/>
                  </a:lnTo>
                  <a:lnTo>
                    <a:pt x="227664" y="4630420"/>
                  </a:lnTo>
                  <a:cubicBezTo>
                    <a:pt x="58754" y="4338320"/>
                    <a:pt x="-18716" y="4042410"/>
                    <a:pt x="4144" y="3773170"/>
                  </a:cubicBezTo>
                  <a:cubicBezTo>
                    <a:pt x="25734" y="3528060"/>
                    <a:pt x="132414" y="3312160"/>
                    <a:pt x="306404" y="3167380"/>
                  </a:cubicBezTo>
                  <a:lnTo>
                    <a:pt x="317834" y="3157220"/>
                  </a:lnTo>
                  <a:lnTo>
                    <a:pt x="306404" y="3147060"/>
                  </a:lnTo>
                  <a:cubicBezTo>
                    <a:pt x="133684" y="3001010"/>
                    <a:pt x="25734" y="2786380"/>
                    <a:pt x="4144" y="2541270"/>
                  </a:cubicBezTo>
                  <a:cubicBezTo>
                    <a:pt x="-18716" y="2273300"/>
                    <a:pt x="57484" y="1976120"/>
                    <a:pt x="227664" y="1682750"/>
                  </a:cubicBezTo>
                  <a:lnTo>
                    <a:pt x="231474" y="1676400"/>
                  </a:lnTo>
                  <a:lnTo>
                    <a:pt x="227664" y="1670050"/>
                  </a:lnTo>
                  <a:cubicBezTo>
                    <a:pt x="-33956" y="1217930"/>
                    <a:pt x="-72056" y="764540"/>
                    <a:pt x="123524" y="426720"/>
                  </a:cubicBezTo>
                  <a:cubicBezTo>
                    <a:pt x="279734" y="154940"/>
                    <a:pt x="565484" y="0"/>
                    <a:pt x="908384" y="0"/>
                  </a:cubicBezTo>
                  <a:cubicBezTo>
                    <a:pt x="1149684" y="0"/>
                    <a:pt x="1413844" y="78740"/>
                    <a:pt x="1670384" y="227330"/>
                  </a:cubicBezTo>
                  <a:lnTo>
                    <a:pt x="1676734" y="231140"/>
                  </a:lnTo>
                  <a:lnTo>
                    <a:pt x="1683084" y="227330"/>
                  </a:lnTo>
                  <a:cubicBezTo>
                    <a:pt x="1939624" y="78740"/>
                    <a:pt x="2203784" y="0"/>
                    <a:pt x="2445084" y="0"/>
                  </a:cubicBezTo>
                  <a:cubicBezTo>
                    <a:pt x="2787984" y="0"/>
                    <a:pt x="3075004" y="154940"/>
                    <a:pt x="3231214" y="426720"/>
                  </a:cubicBezTo>
                  <a:cubicBezTo>
                    <a:pt x="3426794" y="764540"/>
                    <a:pt x="3388694" y="1219200"/>
                    <a:pt x="3127074" y="1671320"/>
                  </a:cubicBezTo>
                  <a:lnTo>
                    <a:pt x="3123264" y="1677670"/>
                  </a:lnTo>
                  <a:lnTo>
                    <a:pt x="3127074" y="1684020"/>
                  </a:lnTo>
                  <a:cubicBezTo>
                    <a:pt x="3295984" y="1977390"/>
                    <a:pt x="3373454" y="2273300"/>
                    <a:pt x="3350594" y="2542540"/>
                  </a:cubicBezTo>
                  <a:cubicBezTo>
                    <a:pt x="3329004" y="2787650"/>
                    <a:pt x="3222324" y="3003550"/>
                    <a:pt x="3048334" y="3148330"/>
                  </a:cubicBezTo>
                  <a:lnTo>
                    <a:pt x="3036904" y="3158490"/>
                  </a:lnTo>
                  <a:lnTo>
                    <a:pt x="3048334" y="3168650"/>
                  </a:lnTo>
                  <a:cubicBezTo>
                    <a:pt x="3221054" y="3314700"/>
                    <a:pt x="3329004" y="3529330"/>
                    <a:pt x="3350594" y="3774440"/>
                  </a:cubicBezTo>
                  <a:cubicBezTo>
                    <a:pt x="3373454" y="4042410"/>
                    <a:pt x="3297254" y="4339590"/>
                    <a:pt x="3127074" y="4632960"/>
                  </a:cubicBezTo>
                  <a:lnTo>
                    <a:pt x="3123264" y="4639310"/>
                  </a:lnTo>
                  <a:lnTo>
                    <a:pt x="3127074" y="4645660"/>
                  </a:lnTo>
                  <a:cubicBezTo>
                    <a:pt x="3388694" y="5099050"/>
                    <a:pt x="3426794" y="5552440"/>
                    <a:pt x="3231214" y="5890260"/>
                  </a:cubicBezTo>
                  <a:cubicBezTo>
                    <a:pt x="3076274" y="6159500"/>
                    <a:pt x="2789254" y="6314440"/>
                    <a:pt x="2446354" y="6314440"/>
                  </a:cubicBezTo>
                  <a:cubicBezTo>
                    <a:pt x="2446354" y="6314440"/>
                    <a:pt x="2446354" y="6314440"/>
                    <a:pt x="2446354" y="6314440"/>
                  </a:cubicBezTo>
                  <a:close/>
                </a:path>
              </a:pathLst>
            </a:custGeom>
            <a:blipFill>
              <a:blip r:embed="rId2"/>
              <a:stretch>
                <a:fillRect l="-12702" t="0" r="-12702" b="0"/>
              </a:stretch>
            </a:blipFill>
          </p:spPr>
        </p:sp>
      </p:grpSp>
      <p:sp>
        <p:nvSpPr>
          <p:cNvPr name="AutoShape 5" id="5"/>
          <p:cNvSpPr/>
          <p:nvPr/>
        </p:nvSpPr>
        <p:spPr>
          <a:xfrm>
            <a:off x="1009650" y="4604342"/>
            <a:ext cx="0" cy="3676679"/>
          </a:xfrm>
          <a:prstGeom prst="line">
            <a:avLst/>
          </a:prstGeom>
          <a:ln cap="flat" w="38100">
            <a:solidFill>
              <a:srgbClr val="CEFFAD"/>
            </a:solidFill>
            <a:prstDash val="solid"/>
            <a:headEnd type="none" len="sm" w="sm"/>
            <a:tailEnd type="none" len="sm" w="sm"/>
          </a:ln>
        </p:spPr>
      </p:sp>
      <p:sp>
        <p:nvSpPr>
          <p:cNvPr name="Freeform 6" id="6"/>
          <p:cNvSpPr/>
          <p:nvPr/>
        </p:nvSpPr>
        <p:spPr>
          <a:xfrm flipH="false" flipV="false" rot="0">
            <a:off x="11222144" y="915534"/>
            <a:ext cx="1694758" cy="1673188"/>
          </a:xfrm>
          <a:custGeom>
            <a:avLst/>
            <a:gdLst/>
            <a:ahLst/>
            <a:cxnLst/>
            <a:rect r="r" b="b" t="t" l="l"/>
            <a:pathLst>
              <a:path h="1673188" w="1694758">
                <a:moveTo>
                  <a:pt x="0" y="0"/>
                </a:moveTo>
                <a:lnTo>
                  <a:pt x="1694758" y="0"/>
                </a:lnTo>
                <a:lnTo>
                  <a:pt x="1694758" y="1673188"/>
                </a:lnTo>
                <a:lnTo>
                  <a:pt x="0" y="16731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248206" y="9153399"/>
            <a:ext cx="709316" cy="710608"/>
          </a:xfrm>
          <a:custGeom>
            <a:avLst/>
            <a:gdLst/>
            <a:ahLst/>
            <a:cxnLst/>
            <a:rect r="r" b="b" t="t" l="l"/>
            <a:pathLst>
              <a:path h="710608" w="709316">
                <a:moveTo>
                  <a:pt x="0" y="0"/>
                </a:moveTo>
                <a:lnTo>
                  <a:pt x="709316" y="0"/>
                </a:lnTo>
                <a:lnTo>
                  <a:pt x="709316" y="710609"/>
                </a:lnTo>
                <a:lnTo>
                  <a:pt x="0" y="71060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550138" y="8636325"/>
            <a:ext cx="2455366" cy="2455366"/>
          </a:xfrm>
          <a:custGeom>
            <a:avLst/>
            <a:gdLst/>
            <a:ahLst/>
            <a:cxnLst/>
            <a:rect r="r" b="b" t="t" l="l"/>
            <a:pathLst>
              <a:path h="2455366" w="2455366">
                <a:moveTo>
                  <a:pt x="0" y="0"/>
                </a:moveTo>
                <a:lnTo>
                  <a:pt x="2455366" y="0"/>
                </a:lnTo>
                <a:lnTo>
                  <a:pt x="2455366" y="2455366"/>
                </a:lnTo>
                <a:lnTo>
                  <a:pt x="0" y="245536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677545" y="781620"/>
            <a:ext cx="9825166" cy="2730275"/>
          </a:xfrm>
          <a:prstGeom prst="rect">
            <a:avLst/>
          </a:prstGeom>
        </p:spPr>
        <p:txBody>
          <a:bodyPr anchor="t" rtlCol="false" tIns="0" lIns="0" bIns="0" rIns="0">
            <a:spAutoFit/>
          </a:bodyPr>
          <a:lstStyle/>
          <a:p>
            <a:pPr algn="l">
              <a:lnSpc>
                <a:spcPts val="10436"/>
              </a:lnSpc>
            </a:pPr>
            <a:r>
              <a:rPr lang="en-US" sz="10985" spc="-593">
                <a:solidFill>
                  <a:srgbClr val="CEFFAD"/>
                </a:solidFill>
                <a:latin typeface="Garet"/>
                <a:ea typeface="Garet"/>
                <a:cs typeface="Garet"/>
                <a:sym typeface="Garet"/>
              </a:rPr>
              <a:t>Dataset &amp; Preprocessing</a:t>
            </a:r>
          </a:p>
        </p:txBody>
      </p:sp>
      <p:sp>
        <p:nvSpPr>
          <p:cNvPr name="TextBox 10" id="10"/>
          <p:cNvSpPr txBox="true"/>
          <p:nvPr/>
        </p:nvSpPr>
        <p:spPr>
          <a:xfrm rot="0">
            <a:off x="1905228" y="3545238"/>
            <a:ext cx="11478399" cy="6572250"/>
          </a:xfrm>
          <a:prstGeom prst="rect">
            <a:avLst/>
          </a:prstGeom>
        </p:spPr>
        <p:txBody>
          <a:bodyPr anchor="t" rtlCol="false" tIns="0" lIns="0" bIns="0" rIns="0">
            <a:spAutoFit/>
          </a:bodyPr>
          <a:lstStyle/>
          <a:p>
            <a:pPr algn="l">
              <a:lnSpc>
                <a:spcPts val="2585"/>
              </a:lnSpc>
            </a:pPr>
            <a:r>
              <a:rPr lang="en-US" b="true" sz="2154" spc="-116">
                <a:gradFill>
                  <a:gsLst>
                    <a:gs pos="0">
                      <a:srgbClr val="E8E7E3">
                        <a:alpha val="100000"/>
                      </a:srgbClr>
                    </a:gs>
                    <a:gs pos="100000">
                      <a:srgbClr val="CEFFAD">
                        <a:alpha val="100000"/>
                      </a:srgbClr>
                    </a:gs>
                  </a:gsLst>
                  <a:lin ang="5400000"/>
                </a:gradFill>
                <a:latin typeface="Garet Bold"/>
                <a:ea typeface="Garet Bold"/>
                <a:cs typeface="Garet Bold"/>
                <a:sym typeface="Garet Bold"/>
              </a:rPr>
              <a:t>The dataset used in this project contains medical and biological information related to individuals’ health conditions and smoking status.</a:t>
            </a:r>
          </a:p>
          <a:p>
            <a:pPr algn="l">
              <a:lnSpc>
                <a:spcPts val="2789"/>
              </a:lnSpc>
            </a:pPr>
            <a:r>
              <a:rPr lang="en-US" b="true" sz="2324" spc="-125">
                <a:gradFill>
                  <a:gsLst>
                    <a:gs pos="0">
                      <a:srgbClr val="E8E7E3">
                        <a:alpha val="100000"/>
                      </a:srgbClr>
                    </a:gs>
                    <a:gs pos="100000">
                      <a:srgbClr val="CEFFAD">
                        <a:alpha val="100000"/>
                      </a:srgbClr>
                    </a:gs>
                  </a:gsLst>
                  <a:lin ang="5400000"/>
                </a:gradFill>
                <a:latin typeface="Garet Bold"/>
                <a:ea typeface="Garet Bold"/>
                <a:cs typeface="Garet Bold"/>
                <a:sym typeface="Garet Bold"/>
              </a:rPr>
              <a:t> Main Features</a:t>
            </a:r>
          </a:p>
          <a:p>
            <a:pPr algn="l" marL="465086" indent="-232543" lvl="1">
              <a:lnSpc>
                <a:spcPts val="2585"/>
              </a:lnSpc>
              <a:buFont typeface="Arial"/>
              <a:buChar char="•"/>
            </a:pPr>
            <a:r>
              <a:rPr lang="en-US" b="true" sz="2154" spc="-116">
                <a:gradFill>
                  <a:gsLst>
                    <a:gs pos="0">
                      <a:srgbClr val="E8E7E3">
                        <a:alpha val="100000"/>
                      </a:srgbClr>
                    </a:gs>
                    <a:gs pos="100000">
                      <a:srgbClr val="CEFFAD">
                        <a:alpha val="100000"/>
                      </a:srgbClr>
                    </a:gs>
                  </a:gsLst>
                  <a:lin ang="5400000"/>
                </a:gradFill>
                <a:latin typeface="Garet Bold"/>
                <a:ea typeface="Garet Bold"/>
                <a:cs typeface="Garet Bold"/>
                <a:sym typeface="Garet Bold"/>
              </a:rPr>
              <a:t>Hemoglobin</a:t>
            </a:r>
          </a:p>
          <a:p>
            <a:pPr algn="l" marL="465086" indent="-232543" lvl="1">
              <a:lnSpc>
                <a:spcPts val="2585"/>
              </a:lnSpc>
              <a:buFont typeface="Arial"/>
              <a:buChar char="•"/>
            </a:pPr>
            <a:r>
              <a:rPr lang="en-US" b="true" sz="2154" spc="-116">
                <a:gradFill>
                  <a:gsLst>
                    <a:gs pos="0">
                      <a:srgbClr val="E8E7E3">
                        <a:alpha val="100000"/>
                      </a:srgbClr>
                    </a:gs>
                    <a:gs pos="100000">
                      <a:srgbClr val="CEFFAD">
                        <a:alpha val="100000"/>
                      </a:srgbClr>
                    </a:gs>
                  </a:gsLst>
                  <a:lin ang="5400000"/>
                </a:gradFill>
                <a:latin typeface="Garet Bold"/>
                <a:ea typeface="Garet Bold"/>
                <a:cs typeface="Garet Bold"/>
                <a:sym typeface="Garet Bold"/>
              </a:rPr>
              <a:t>Cholesterol</a:t>
            </a:r>
          </a:p>
          <a:p>
            <a:pPr algn="l" marL="465086" indent="-232543" lvl="1">
              <a:lnSpc>
                <a:spcPts val="2585"/>
              </a:lnSpc>
              <a:buFont typeface="Arial"/>
              <a:buChar char="•"/>
            </a:pPr>
            <a:r>
              <a:rPr lang="en-US" b="true" sz="2154" spc="-116">
                <a:gradFill>
                  <a:gsLst>
                    <a:gs pos="0">
                      <a:srgbClr val="E8E7E3">
                        <a:alpha val="100000"/>
                      </a:srgbClr>
                    </a:gs>
                    <a:gs pos="100000">
                      <a:srgbClr val="CEFFAD">
                        <a:alpha val="100000"/>
                      </a:srgbClr>
                    </a:gs>
                  </a:gsLst>
                  <a:lin ang="5400000"/>
                </a:gradFill>
                <a:latin typeface="Garet Bold"/>
                <a:ea typeface="Garet Bold"/>
                <a:cs typeface="Garet Bold"/>
                <a:sym typeface="Garet Bold"/>
              </a:rPr>
              <a:t>Blood Pressure</a:t>
            </a:r>
          </a:p>
          <a:p>
            <a:pPr algn="l" marL="465086" indent="-232543" lvl="1">
              <a:lnSpc>
                <a:spcPts val="2585"/>
              </a:lnSpc>
              <a:buFont typeface="Arial"/>
              <a:buChar char="•"/>
            </a:pPr>
            <a:r>
              <a:rPr lang="en-US" b="true" sz="2154" spc="-116">
                <a:gradFill>
                  <a:gsLst>
                    <a:gs pos="0">
                      <a:srgbClr val="E8E7E3">
                        <a:alpha val="100000"/>
                      </a:srgbClr>
                    </a:gs>
                    <a:gs pos="100000">
                      <a:srgbClr val="CEFFAD">
                        <a:alpha val="100000"/>
                      </a:srgbClr>
                    </a:gs>
                  </a:gsLst>
                  <a:lin ang="5400000"/>
                </a:gradFill>
                <a:latin typeface="Garet Bold"/>
                <a:ea typeface="Garet Bold"/>
                <a:cs typeface="Garet Bold"/>
                <a:sym typeface="Garet Bold"/>
              </a:rPr>
              <a:t>Liver Enzymes</a:t>
            </a:r>
          </a:p>
          <a:p>
            <a:pPr algn="l" marL="465086" indent="-232543" lvl="1">
              <a:lnSpc>
                <a:spcPts val="2585"/>
              </a:lnSpc>
              <a:buFont typeface="Arial"/>
              <a:buChar char="•"/>
            </a:pPr>
            <a:r>
              <a:rPr lang="en-US" b="true" sz="2154" spc="-116">
                <a:gradFill>
                  <a:gsLst>
                    <a:gs pos="0">
                      <a:srgbClr val="E8E7E3">
                        <a:alpha val="100000"/>
                      </a:srgbClr>
                    </a:gs>
                    <a:gs pos="100000">
                      <a:srgbClr val="CEFFAD">
                        <a:alpha val="100000"/>
                      </a:srgbClr>
                    </a:gs>
                  </a:gsLst>
                  <a:lin ang="5400000"/>
                </a:gradFill>
                <a:latin typeface="Garet Bold"/>
                <a:ea typeface="Garet Bold"/>
                <a:cs typeface="Garet Bold"/>
                <a:sym typeface="Garet Bold"/>
              </a:rPr>
              <a:t>Gender</a:t>
            </a:r>
          </a:p>
          <a:p>
            <a:pPr algn="l" marL="465086" indent="-232543" lvl="1">
              <a:lnSpc>
                <a:spcPts val="2585"/>
              </a:lnSpc>
              <a:buFont typeface="Arial"/>
              <a:buChar char="•"/>
            </a:pPr>
            <a:r>
              <a:rPr lang="en-US" b="true" sz="2154" spc="-116">
                <a:gradFill>
                  <a:gsLst>
                    <a:gs pos="0">
                      <a:srgbClr val="E8E7E3">
                        <a:alpha val="100000"/>
                      </a:srgbClr>
                    </a:gs>
                    <a:gs pos="100000">
                      <a:srgbClr val="CEFFAD">
                        <a:alpha val="100000"/>
                      </a:srgbClr>
                    </a:gs>
                  </a:gsLst>
                  <a:lin ang="5400000"/>
                </a:gradFill>
                <a:latin typeface="Garet Bold"/>
                <a:ea typeface="Garet Bold"/>
                <a:cs typeface="Garet Bold"/>
                <a:sym typeface="Garet Bold"/>
              </a:rPr>
              <a:t>Age</a:t>
            </a:r>
          </a:p>
          <a:p>
            <a:pPr algn="l" marL="465086" indent="-232543" lvl="1">
              <a:lnSpc>
                <a:spcPts val="2585"/>
              </a:lnSpc>
              <a:buFont typeface="Arial"/>
              <a:buChar char="•"/>
            </a:pPr>
            <a:r>
              <a:rPr lang="en-US" b="true" sz="2154" spc="-116">
                <a:gradFill>
                  <a:gsLst>
                    <a:gs pos="0">
                      <a:srgbClr val="E8E7E3">
                        <a:alpha val="100000"/>
                      </a:srgbClr>
                    </a:gs>
                    <a:gs pos="100000">
                      <a:srgbClr val="CEFFAD">
                        <a:alpha val="100000"/>
                      </a:srgbClr>
                    </a:gs>
                  </a:gsLst>
                  <a:lin ang="5400000"/>
                </a:gradFill>
                <a:latin typeface="Garet Bold"/>
                <a:ea typeface="Garet Bold"/>
                <a:cs typeface="Garet Bold"/>
                <a:sym typeface="Garet Bold"/>
              </a:rPr>
              <a:t>Blood Sugar</a:t>
            </a:r>
          </a:p>
          <a:p>
            <a:pPr algn="l" marL="465086" indent="-232543" lvl="1">
              <a:lnSpc>
                <a:spcPts val="2585"/>
              </a:lnSpc>
              <a:buFont typeface="Arial"/>
              <a:buChar char="•"/>
            </a:pPr>
            <a:r>
              <a:rPr lang="en-US" b="true" sz="2154" spc="-116">
                <a:gradFill>
                  <a:gsLst>
                    <a:gs pos="0">
                      <a:srgbClr val="E8E7E3">
                        <a:alpha val="100000"/>
                      </a:srgbClr>
                    </a:gs>
                    <a:gs pos="100000">
                      <a:srgbClr val="CEFFAD">
                        <a:alpha val="100000"/>
                      </a:srgbClr>
                    </a:gs>
                  </a:gsLst>
                  <a:lin ang="5400000"/>
                </a:gradFill>
                <a:latin typeface="Garet Bold"/>
                <a:ea typeface="Garet Bold"/>
                <a:cs typeface="Garet Bold"/>
                <a:sym typeface="Garet Bold"/>
              </a:rPr>
              <a:t>Body Mass Index (BMI)</a:t>
            </a:r>
          </a:p>
          <a:p>
            <a:pPr algn="l">
              <a:lnSpc>
                <a:spcPts val="2789"/>
              </a:lnSpc>
            </a:pPr>
            <a:r>
              <a:rPr lang="en-US" b="true" sz="2324" spc="-125">
                <a:gradFill>
                  <a:gsLst>
                    <a:gs pos="0">
                      <a:srgbClr val="E8E7E3">
                        <a:alpha val="100000"/>
                      </a:srgbClr>
                    </a:gs>
                    <a:gs pos="100000">
                      <a:srgbClr val="CEFFAD">
                        <a:alpha val="100000"/>
                      </a:srgbClr>
                    </a:gs>
                  </a:gsLst>
                  <a:lin ang="5400000"/>
                </a:gradFill>
                <a:latin typeface="Garet Bold"/>
                <a:ea typeface="Garet Bold"/>
                <a:cs typeface="Garet Bold"/>
                <a:sym typeface="Garet Bold"/>
              </a:rPr>
              <a:t>Label (Target Variable)</a:t>
            </a:r>
          </a:p>
          <a:p>
            <a:pPr algn="l" marL="930172" indent="-310057" lvl="2">
              <a:lnSpc>
                <a:spcPts val="2585"/>
              </a:lnSpc>
              <a:buFont typeface="Arial"/>
              <a:buChar char="⚬"/>
            </a:pPr>
            <a:r>
              <a:rPr lang="en-US" b="true" sz="2154" spc="-116">
                <a:gradFill>
                  <a:gsLst>
                    <a:gs pos="0">
                      <a:srgbClr val="E8E7E3">
                        <a:alpha val="100000"/>
                      </a:srgbClr>
                    </a:gs>
                    <a:gs pos="100000">
                      <a:srgbClr val="CEFFAD">
                        <a:alpha val="100000"/>
                      </a:srgbClr>
                    </a:gs>
                  </a:gsLst>
                  <a:lin ang="5400000"/>
                </a:gradFill>
                <a:latin typeface="Garet Bold"/>
                <a:ea typeface="Garet Bold"/>
                <a:cs typeface="Garet Bold"/>
                <a:sym typeface="Garet Bold"/>
              </a:rPr>
              <a:t>Smoking Status0 → Non-Smoker</a:t>
            </a:r>
          </a:p>
          <a:p>
            <a:pPr algn="l" marL="930172" indent="-310057" lvl="2">
              <a:lnSpc>
                <a:spcPts val="2585"/>
              </a:lnSpc>
              <a:buFont typeface="Arial"/>
              <a:buChar char="⚬"/>
            </a:pPr>
            <a:r>
              <a:rPr lang="en-US" b="true" sz="2154" spc="-116">
                <a:gradFill>
                  <a:gsLst>
                    <a:gs pos="0">
                      <a:srgbClr val="E8E7E3">
                        <a:alpha val="100000"/>
                      </a:srgbClr>
                    </a:gs>
                    <a:gs pos="100000">
                      <a:srgbClr val="CEFFAD">
                        <a:alpha val="100000"/>
                      </a:srgbClr>
                    </a:gs>
                  </a:gsLst>
                  <a:lin ang="5400000"/>
                </a:gradFill>
                <a:latin typeface="Garet Bold"/>
                <a:ea typeface="Garet Bold"/>
                <a:cs typeface="Garet Bold"/>
                <a:sym typeface="Garet Bold"/>
              </a:rPr>
              <a:t>1 → Smoker</a:t>
            </a:r>
          </a:p>
          <a:p>
            <a:pPr algn="l">
              <a:lnSpc>
                <a:spcPts val="2994"/>
              </a:lnSpc>
            </a:pPr>
            <a:r>
              <a:rPr lang="en-US" b="true" sz="2495" spc="-134">
                <a:gradFill>
                  <a:gsLst>
                    <a:gs pos="0">
                      <a:srgbClr val="E8E7E3">
                        <a:alpha val="100000"/>
                      </a:srgbClr>
                    </a:gs>
                    <a:gs pos="100000">
                      <a:srgbClr val="CEFFAD">
                        <a:alpha val="100000"/>
                      </a:srgbClr>
                    </a:gs>
                  </a:gsLst>
                  <a:lin ang="5400000"/>
                </a:gradFill>
                <a:latin typeface="Garet Bold"/>
                <a:ea typeface="Garet Bold"/>
                <a:cs typeface="Garet Bold"/>
                <a:sym typeface="Garet Bold"/>
              </a:rPr>
              <a:t> </a:t>
            </a:r>
            <a:r>
              <a:rPr lang="en-US" b="true" sz="2495" spc="-134">
                <a:gradFill>
                  <a:gsLst>
                    <a:gs pos="0">
                      <a:srgbClr val="E8E7E3">
                        <a:alpha val="100000"/>
                      </a:srgbClr>
                    </a:gs>
                    <a:gs pos="100000">
                      <a:srgbClr val="CEFFAD">
                        <a:alpha val="100000"/>
                      </a:srgbClr>
                    </a:gs>
                  </a:gsLst>
                  <a:lin ang="5400000"/>
                </a:gradFill>
                <a:latin typeface="Garet Bold"/>
                <a:ea typeface="Garet Bold"/>
                <a:cs typeface="Garet Bold"/>
                <a:sym typeface="Garet Bold"/>
              </a:rPr>
              <a:t>Preprocessing Steps</a:t>
            </a:r>
          </a:p>
          <a:p>
            <a:pPr algn="l" marL="465086" indent="-232543" lvl="1">
              <a:lnSpc>
                <a:spcPts val="2585"/>
              </a:lnSpc>
              <a:buFont typeface="Arial"/>
              <a:buChar char="•"/>
            </a:pPr>
            <a:r>
              <a:rPr lang="en-US" b="true" sz="2154" spc="-116">
                <a:gradFill>
                  <a:gsLst>
                    <a:gs pos="0">
                      <a:srgbClr val="E8E7E3">
                        <a:alpha val="100000"/>
                      </a:srgbClr>
                    </a:gs>
                    <a:gs pos="100000">
                      <a:srgbClr val="CEFFAD">
                        <a:alpha val="100000"/>
                      </a:srgbClr>
                    </a:gs>
                  </a:gsLst>
                  <a:lin ang="5400000"/>
                </a:gradFill>
                <a:latin typeface="Garet Bold"/>
                <a:ea typeface="Garet Bold"/>
                <a:cs typeface="Garet Bold"/>
                <a:sym typeface="Garet Bold"/>
              </a:rPr>
              <a:t>Removed unnecessary columns</a:t>
            </a:r>
          </a:p>
          <a:p>
            <a:pPr algn="l" marL="465086" indent="-232543" lvl="1">
              <a:lnSpc>
                <a:spcPts val="2585"/>
              </a:lnSpc>
              <a:buFont typeface="Arial"/>
              <a:buChar char="•"/>
            </a:pPr>
            <a:r>
              <a:rPr lang="en-US" b="true" sz="2154" spc="-116">
                <a:gradFill>
                  <a:gsLst>
                    <a:gs pos="0">
                      <a:srgbClr val="E8E7E3">
                        <a:alpha val="100000"/>
                      </a:srgbClr>
                    </a:gs>
                    <a:gs pos="100000">
                      <a:srgbClr val="CEFFAD">
                        <a:alpha val="100000"/>
                      </a:srgbClr>
                    </a:gs>
                  </a:gsLst>
                  <a:lin ang="5400000"/>
                </a:gradFill>
                <a:latin typeface="Garet Bold"/>
                <a:ea typeface="Garet Bold"/>
                <a:cs typeface="Garet Bold"/>
                <a:sym typeface="Garet Bold"/>
              </a:rPr>
              <a:t>Encoded categorical variables using Label Encoding</a:t>
            </a:r>
          </a:p>
          <a:p>
            <a:pPr algn="l" marL="465086" indent="-232543" lvl="1">
              <a:lnSpc>
                <a:spcPts val="2585"/>
              </a:lnSpc>
              <a:buFont typeface="Arial"/>
              <a:buChar char="•"/>
            </a:pPr>
            <a:r>
              <a:rPr lang="en-US" b="true" sz="2154" spc="-116">
                <a:gradFill>
                  <a:gsLst>
                    <a:gs pos="0">
                      <a:srgbClr val="E8E7E3">
                        <a:alpha val="100000"/>
                      </a:srgbClr>
                    </a:gs>
                    <a:gs pos="100000">
                      <a:srgbClr val="CEFFAD">
                        <a:alpha val="100000"/>
                      </a:srgbClr>
                    </a:gs>
                  </a:gsLst>
                  <a:lin ang="5400000"/>
                </a:gradFill>
                <a:latin typeface="Garet Bold"/>
                <a:ea typeface="Garet Bold"/>
                <a:cs typeface="Garet Bold"/>
                <a:sym typeface="Garet Bold"/>
              </a:rPr>
              <a:t>Applied StandardScaler for feature normalization</a:t>
            </a:r>
          </a:p>
          <a:p>
            <a:pPr algn="l" marL="465086" indent="-232543" lvl="1">
              <a:lnSpc>
                <a:spcPts val="2585"/>
              </a:lnSpc>
              <a:buFont typeface="Arial"/>
              <a:buChar char="•"/>
            </a:pPr>
            <a:r>
              <a:rPr lang="en-US" b="true" sz="2154" spc="-116">
                <a:gradFill>
                  <a:gsLst>
                    <a:gs pos="0">
                      <a:srgbClr val="E8E7E3">
                        <a:alpha val="100000"/>
                      </a:srgbClr>
                    </a:gs>
                    <a:gs pos="100000">
                      <a:srgbClr val="CEFFAD">
                        <a:alpha val="100000"/>
                      </a:srgbClr>
                    </a:gs>
                  </a:gsLst>
                  <a:lin ang="5400000"/>
                </a:gradFill>
                <a:latin typeface="Garet Bold"/>
                <a:ea typeface="Garet Bold"/>
                <a:cs typeface="Garet Bold"/>
                <a:sym typeface="Garet Bold"/>
              </a:rPr>
              <a:t>Split the dataset into training and testing sets</a:t>
            </a:r>
          </a:p>
          <a:p>
            <a:pPr algn="l">
              <a:lnSpc>
                <a:spcPts val="2585"/>
              </a:lnSpc>
            </a:pPr>
          </a:p>
        </p:txBody>
      </p:sp>
      <p:sp>
        <p:nvSpPr>
          <p:cNvPr name="Freeform 11" id="11"/>
          <p:cNvSpPr/>
          <p:nvPr/>
        </p:nvSpPr>
        <p:spPr>
          <a:xfrm flipH="false" flipV="false" rot="0">
            <a:off x="16428923" y="-703238"/>
            <a:ext cx="2455366" cy="2455366"/>
          </a:xfrm>
          <a:custGeom>
            <a:avLst/>
            <a:gdLst/>
            <a:ahLst/>
            <a:cxnLst/>
            <a:rect r="r" b="b" t="t" l="l"/>
            <a:pathLst>
              <a:path h="2455366" w="2455366">
                <a:moveTo>
                  <a:pt x="0" y="0"/>
                </a:moveTo>
                <a:lnTo>
                  <a:pt x="2455366" y="0"/>
                </a:lnTo>
                <a:lnTo>
                  <a:pt x="2455366" y="2455366"/>
                </a:lnTo>
                <a:lnTo>
                  <a:pt x="0" y="245536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8E7E3"/>
        </a:solidFill>
      </p:bgPr>
    </p:bg>
    <p:spTree>
      <p:nvGrpSpPr>
        <p:cNvPr id="1" name=""/>
        <p:cNvGrpSpPr/>
        <p:nvPr/>
      </p:nvGrpSpPr>
      <p:grpSpPr>
        <a:xfrm>
          <a:off x="0" y="0"/>
          <a:ext cx="0" cy="0"/>
          <a:chOff x="0" y="0"/>
          <a:chExt cx="0" cy="0"/>
        </a:xfrm>
      </p:grpSpPr>
      <p:sp>
        <p:nvSpPr>
          <p:cNvPr name="Freeform 2" id="2"/>
          <p:cNvSpPr/>
          <p:nvPr/>
        </p:nvSpPr>
        <p:spPr>
          <a:xfrm flipH="false" flipV="false" rot="0">
            <a:off x="1748953" y="4236253"/>
            <a:ext cx="2827115" cy="1814494"/>
          </a:xfrm>
          <a:custGeom>
            <a:avLst/>
            <a:gdLst/>
            <a:ahLst/>
            <a:cxnLst/>
            <a:rect r="r" b="b" t="t" l="l"/>
            <a:pathLst>
              <a:path h="1814494" w="2827115">
                <a:moveTo>
                  <a:pt x="0" y="0"/>
                </a:moveTo>
                <a:lnTo>
                  <a:pt x="2827115" y="0"/>
                </a:lnTo>
                <a:lnTo>
                  <a:pt x="2827115" y="1814494"/>
                </a:lnTo>
                <a:lnTo>
                  <a:pt x="0" y="18144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233621" y="4353214"/>
            <a:ext cx="4533294" cy="4506148"/>
          </a:xfrm>
          <a:custGeom>
            <a:avLst/>
            <a:gdLst/>
            <a:ahLst/>
            <a:cxnLst/>
            <a:rect r="r" b="b" t="t" l="l"/>
            <a:pathLst>
              <a:path h="4506148" w="4533294">
                <a:moveTo>
                  <a:pt x="0" y="0"/>
                </a:moveTo>
                <a:lnTo>
                  <a:pt x="4533294" y="0"/>
                </a:lnTo>
                <a:lnTo>
                  <a:pt x="4533294" y="4506148"/>
                </a:lnTo>
                <a:lnTo>
                  <a:pt x="0" y="45061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203726" y="1228725"/>
            <a:ext cx="9556116" cy="2074345"/>
          </a:xfrm>
          <a:prstGeom prst="rect">
            <a:avLst/>
          </a:prstGeom>
        </p:spPr>
        <p:txBody>
          <a:bodyPr anchor="t" rtlCol="false" tIns="0" lIns="0" bIns="0" rIns="0">
            <a:spAutoFit/>
          </a:bodyPr>
          <a:lstStyle/>
          <a:p>
            <a:pPr algn="l">
              <a:lnSpc>
                <a:spcPts val="7920"/>
              </a:lnSpc>
            </a:pPr>
            <a:r>
              <a:rPr lang="en-US" sz="8337" spc="-450">
                <a:solidFill>
                  <a:srgbClr val="172EB9"/>
                </a:solidFill>
                <a:latin typeface="Garet"/>
                <a:ea typeface="Garet"/>
                <a:cs typeface="Garet"/>
                <a:sym typeface="Garet"/>
              </a:rPr>
              <a:t>Machine Learning Models</a:t>
            </a:r>
          </a:p>
        </p:txBody>
      </p:sp>
      <p:sp>
        <p:nvSpPr>
          <p:cNvPr name="TextBox 5" id="5"/>
          <p:cNvSpPr txBox="true"/>
          <p:nvPr/>
        </p:nvSpPr>
        <p:spPr>
          <a:xfrm rot="0">
            <a:off x="807044" y="5067300"/>
            <a:ext cx="8336956" cy="5343525"/>
          </a:xfrm>
          <a:prstGeom prst="rect">
            <a:avLst/>
          </a:prstGeom>
        </p:spPr>
        <p:txBody>
          <a:bodyPr anchor="t" rtlCol="false" tIns="0" lIns="0" bIns="0" rIns="0">
            <a:spAutoFit/>
          </a:bodyPr>
          <a:lstStyle/>
          <a:p>
            <a:pPr algn="l">
              <a:lnSpc>
                <a:spcPts val="3028"/>
              </a:lnSpc>
            </a:pPr>
            <a:r>
              <a:rPr lang="en-US" sz="2523" spc="-136" b="true">
                <a:solidFill>
                  <a:srgbClr val="172EB9"/>
                </a:solidFill>
                <a:latin typeface="Garet Bold"/>
                <a:ea typeface="Garet Bold"/>
                <a:cs typeface="Garet Bold"/>
                <a:sym typeface="Garet Bold"/>
              </a:rPr>
              <a:t>SVM finds the hyperplane that separates two classes of data with the maximum possible margin. Data is transformed into a higher-dimensional space using kernel functions to facilitate separation when the data is non-linear.</a:t>
            </a:r>
          </a:p>
          <a:p>
            <a:pPr algn="l">
              <a:lnSpc>
                <a:spcPts val="3028"/>
              </a:lnSpc>
            </a:pPr>
            <a:r>
              <a:rPr lang="en-US" sz="2523" spc="-136" b="true">
                <a:solidFill>
                  <a:srgbClr val="172EB9"/>
                </a:solidFill>
                <a:latin typeface="Garet Bold"/>
                <a:ea typeface="Garet Bold"/>
                <a:cs typeface="Garet Bold"/>
                <a:sym typeface="Garet Bold"/>
              </a:rPr>
              <a:t>Parameters:</a:t>
            </a:r>
          </a:p>
          <a:p>
            <a:pPr algn="l">
              <a:lnSpc>
                <a:spcPts val="3028"/>
              </a:lnSpc>
            </a:pPr>
            <a:r>
              <a:rPr lang="en-US" sz="2523" spc="-136" b="true">
                <a:solidFill>
                  <a:srgbClr val="172EB9"/>
                </a:solidFill>
                <a:latin typeface="Garet Bold"/>
                <a:ea typeface="Garet Bold"/>
                <a:cs typeface="Garet Bold"/>
                <a:sym typeface="Garet Bold"/>
              </a:rPr>
              <a:t>C :</a:t>
            </a:r>
          </a:p>
          <a:p>
            <a:pPr algn="l">
              <a:lnSpc>
                <a:spcPts val="3028"/>
              </a:lnSpc>
            </a:pPr>
            <a:r>
              <a:rPr lang="en-US" sz="2523" spc="-136">
                <a:solidFill>
                  <a:srgbClr val="172EB9"/>
                </a:solidFill>
                <a:latin typeface="Garet"/>
                <a:ea typeface="Garet"/>
                <a:cs typeface="Garet"/>
                <a:sym typeface="Garet"/>
              </a:rPr>
              <a:t>Controls the trade-off between maximizing the margin and minimizing classification errors</a:t>
            </a:r>
          </a:p>
          <a:p>
            <a:pPr algn="l">
              <a:lnSpc>
                <a:spcPts val="3028"/>
              </a:lnSpc>
            </a:pPr>
            <a:r>
              <a:rPr lang="en-US" sz="2523" spc="-136" b="true">
                <a:solidFill>
                  <a:srgbClr val="172EB9"/>
                </a:solidFill>
                <a:latin typeface="Garet Bold"/>
                <a:ea typeface="Garet Bold"/>
                <a:cs typeface="Garet Bold"/>
                <a:sym typeface="Garet Bold"/>
              </a:rPr>
              <a:t>Gamma:</a:t>
            </a:r>
          </a:p>
          <a:p>
            <a:pPr algn="l">
              <a:lnSpc>
                <a:spcPts val="3028"/>
              </a:lnSpc>
            </a:pPr>
            <a:r>
              <a:rPr lang="en-US" sz="2523" spc="-136">
                <a:solidFill>
                  <a:srgbClr val="172EB9"/>
                </a:solidFill>
                <a:latin typeface="Garet"/>
                <a:ea typeface="Garet"/>
                <a:cs typeface="Garet"/>
                <a:sym typeface="Garet"/>
              </a:rPr>
              <a:t>Defines the radius of influence of a single training point on the decision</a:t>
            </a:r>
          </a:p>
          <a:p>
            <a:pPr algn="l">
              <a:lnSpc>
                <a:spcPts val="3028"/>
              </a:lnSpc>
            </a:pPr>
          </a:p>
          <a:p>
            <a:pPr algn="l">
              <a:lnSpc>
                <a:spcPts val="3028"/>
              </a:lnSpc>
            </a:pPr>
          </a:p>
        </p:txBody>
      </p:sp>
      <p:sp>
        <p:nvSpPr>
          <p:cNvPr name="TextBox 6" id="6"/>
          <p:cNvSpPr txBox="true"/>
          <p:nvPr/>
        </p:nvSpPr>
        <p:spPr>
          <a:xfrm rot="0">
            <a:off x="807044" y="4038189"/>
            <a:ext cx="3226266" cy="895350"/>
          </a:xfrm>
          <a:prstGeom prst="rect">
            <a:avLst/>
          </a:prstGeom>
        </p:spPr>
        <p:txBody>
          <a:bodyPr anchor="t" rtlCol="false" tIns="0" lIns="0" bIns="0" rIns="0">
            <a:spAutoFit/>
          </a:bodyPr>
          <a:lstStyle/>
          <a:p>
            <a:pPr algn="l">
              <a:lnSpc>
                <a:spcPts val="7199"/>
              </a:lnSpc>
            </a:pPr>
            <a:r>
              <a:rPr lang="en-US" sz="5999" spc="-323" b="true">
                <a:solidFill>
                  <a:srgbClr val="172EB9"/>
                </a:solidFill>
                <a:latin typeface="Garet Bold"/>
                <a:ea typeface="Garet Bold"/>
                <a:cs typeface="Garet Bold"/>
                <a:sym typeface="Garet Bold"/>
              </a:rPr>
              <a:t>01</a:t>
            </a:r>
          </a:p>
        </p:txBody>
      </p:sp>
      <p:sp>
        <p:nvSpPr>
          <p:cNvPr name="TextBox 7" id="7"/>
          <p:cNvSpPr txBox="true"/>
          <p:nvPr/>
        </p:nvSpPr>
        <p:spPr>
          <a:xfrm rot="0">
            <a:off x="1942618" y="4236253"/>
            <a:ext cx="6065808" cy="1160651"/>
          </a:xfrm>
          <a:prstGeom prst="rect">
            <a:avLst/>
          </a:prstGeom>
        </p:spPr>
        <p:txBody>
          <a:bodyPr anchor="t" rtlCol="false" tIns="0" lIns="0" bIns="0" rIns="0">
            <a:spAutoFit/>
          </a:bodyPr>
          <a:lstStyle/>
          <a:p>
            <a:pPr algn="l">
              <a:lnSpc>
                <a:spcPts val="3219"/>
              </a:lnSpc>
            </a:pPr>
            <a:r>
              <a:rPr lang="en-US" sz="2682" spc="-144" b="true">
                <a:solidFill>
                  <a:srgbClr val="172EB9"/>
                </a:solidFill>
                <a:latin typeface="Garet Bold"/>
                <a:ea typeface="Garet Bold"/>
                <a:cs typeface="Garet Bold"/>
                <a:sym typeface="Garet Bold"/>
              </a:rPr>
              <a:t>Support Vector Machine (SVM)</a:t>
            </a:r>
          </a:p>
          <a:p>
            <a:pPr algn="l">
              <a:lnSpc>
                <a:spcPts val="2981"/>
              </a:lnSpc>
            </a:pPr>
          </a:p>
          <a:p>
            <a:pPr algn="l">
              <a:lnSpc>
                <a:spcPts val="2981"/>
              </a:lnSpc>
            </a:pPr>
          </a:p>
        </p:txBody>
      </p:sp>
      <p:sp>
        <p:nvSpPr>
          <p:cNvPr name="TextBox 8" id="8"/>
          <p:cNvSpPr txBox="true"/>
          <p:nvPr/>
        </p:nvSpPr>
        <p:spPr>
          <a:xfrm rot="0">
            <a:off x="10060848" y="5076825"/>
            <a:ext cx="7665686" cy="5556152"/>
          </a:xfrm>
          <a:prstGeom prst="rect">
            <a:avLst/>
          </a:prstGeom>
        </p:spPr>
        <p:txBody>
          <a:bodyPr anchor="t" rtlCol="false" tIns="0" lIns="0" bIns="0" rIns="0">
            <a:spAutoFit/>
          </a:bodyPr>
          <a:lstStyle/>
          <a:p>
            <a:pPr algn="l">
              <a:lnSpc>
                <a:spcPts val="2789"/>
              </a:lnSpc>
            </a:pPr>
            <a:r>
              <a:rPr lang="en-US" sz="2324" spc="-125" b="true">
                <a:solidFill>
                  <a:srgbClr val="172EB9"/>
                </a:solidFill>
                <a:latin typeface="Garet Bold"/>
                <a:ea typeface="Garet Bold"/>
                <a:cs typeface="Garet Bold"/>
                <a:sym typeface="Garet Bold"/>
              </a:rPr>
              <a:t>XGBoost is an ensemble model based on boosting. Decision trees are built sequentially, where each new tree corrects the errors of the previous tree by optimizing the loss function using second-order derivatives (Newton Boosting).</a:t>
            </a:r>
          </a:p>
          <a:p>
            <a:pPr algn="l">
              <a:lnSpc>
                <a:spcPts val="2789"/>
              </a:lnSpc>
            </a:pPr>
          </a:p>
          <a:p>
            <a:pPr algn="l">
              <a:lnSpc>
                <a:spcPts val="2789"/>
              </a:lnSpc>
            </a:pPr>
            <a:r>
              <a:rPr lang="en-US" sz="2324" spc="-125" b="true">
                <a:solidFill>
                  <a:srgbClr val="172EB9"/>
                </a:solidFill>
                <a:latin typeface="Garet Bold"/>
                <a:ea typeface="Garet Bold"/>
                <a:cs typeface="Garet Bold"/>
                <a:sym typeface="Garet Bold"/>
              </a:rPr>
              <a:t>Parame</a:t>
            </a:r>
            <a:r>
              <a:rPr lang="en-US" sz="2324" spc="-125" b="true">
                <a:solidFill>
                  <a:srgbClr val="172EB9"/>
                </a:solidFill>
                <a:latin typeface="Garet Bold"/>
                <a:ea typeface="Garet Bold"/>
                <a:cs typeface="Garet Bold"/>
                <a:sym typeface="Garet Bold"/>
              </a:rPr>
              <a:t>ters:</a:t>
            </a:r>
          </a:p>
          <a:p>
            <a:pPr algn="l">
              <a:lnSpc>
                <a:spcPts val="2789"/>
              </a:lnSpc>
            </a:pPr>
            <a:r>
              <a:rPr lang="en-US" sz="2324" spc="-125" b="true">
                <a:solidFill>
                  <a:srgbClr val="172EB9"/>
                </a:solidFill>
                <a:latin typeface="Garet Bold"/>
                <a:ea typeface="Garet Bold"/>
                <a:cs typeface="Garet Bold"/>
                <a:sym typeface="Garet Bold"/>
              </a:rPr>
              <a:t>n_estimators:</a:t>
            </a:r>
          </a:p>
          <a:p>
            <a:pPr algn="l">
              <a:lnSpc>
                <a:spcPts val="2789"/>
              </a:lnSpc>
            </a:pPr>
            <a:r>
              <a:rPr lang="en-US" sz="2324" spc="-125">
                <a:solidFill>
                  <a:srgbClr val="172EB9"/>
                </a:solidFill>
                <a:latin typeface="Garet"/>
                <a:ea typeface="Garet"/>
                <a:cs typeface="Garet"/>
                <a:sym typeface="Garet"/>
              </a:rPr>
              <a:t>Number of decision trees built in the model</a:t>
            </a:r>
          </a:p>
          <a:p>
            <a:pPr algn="l">
              <a:lnSpc>
                <a:spcPts val="2789"/>
              </a:lnSpc>
            </a:pPr>
            <a:r>
              <a:rPr lang="en-US" sz="2324" spc="-125" b="true">
                <a:solidFill>
                  <a:srgbClr val="172EB9"/>
                </a:solidFill>
                <a:latin typeface="Garet Bold"/>
                <a:ea typeface="Garet Bold"/>
                <a:cs typeface="Garet Bold"/>
                <a:sym typeface="Garet Bold"/>
              </a:rPr>
              <a:t>max_depth:</a:t>
            </a:r>
          </a:p>
          <a:p>
            <a:pPr algn="l">
              <a:lnSpc>
                <a:spcPts val="2789"/>
              </a:lnSpc>
            </a:pPr>
            <a:r>
              <a:rPr lang="en-US" sz="2324" spc="-125">
                <a:solidFill>
                  <a:srgbClr val="172EB9"/>
                </a:solidFill>
                <a:latin typeface="Garet"/>
                <a:ea typeface="Garet"/>
                <a:cs typeface="Garet"/>
                <a:sym typeface="Garet"/>
              </a:rPr>
              <a:t>Maximum depth of each tree, controls model complexity</a:t>
            </a:r>
          </a:p>
          <a:p>
            <a:pPr algn="l">
              <a:lnSpc>
                <a:spcPts val="2789"/>
              </a:lnSpc>
            </a:pPr>
            <a:r>
              <a:rPr lang="en-US" sz="2324" spc="-125" b="true">
                <a:solidFill>
                  <a:srgbClr val="172EB9"/>
                </a:solidFill>
                <a:latin typeface="Garet Bold"/>
                <a:ea typeface="Garet Bold"/>
                <a:cs typeface="Garet Bold"/>
                <a:sym typeface="Garet Bold"/>
              </a:rPr>
              <a:t>eta:</a:t>
            </a:r>
          </a:p>
          <a:p>
            <a:pPr algn="l">
              <a:lnSpc>
                <a:spcPts val="2789"/>
              </a:lnSpc>
            </a:pPr>
            <a:r>
              <a:rPr lang="en-US" sz="2324" spc="-125">
                <a:solidFill>
                  <a:srgbClr val="172EB9"/>
                </a:solidFill>
                <a:latin typeface="Garet"/>
                <a:ea typeface="Garet"/>
                <a:cs typeface="Garet"/>
                <a:sym typeface="Garet"/>
              </a:rPr>
              <a:t>Learning rate, controls the contribution of each tree to the final result</a:t>
            </a:r>
          </a:p>
          <a:p>
            <a:pPr algn="l">
              <a:lnSpc>
                <a:spcPts val="2789"/>
              </a:lnSpc>
            </a:pPr>
          </a:p>
        </p:txBody>
      </p:sp>
      <p:sp>
        <p:nvSpPr>
          <p:cNvPr name="TextBox 9" id="9"/>
          <p:cNvSpPr txBox="true"/>
          <p:nvPr/>
        </p:nvSpPr>
        <p:spPr>
          <a:xfrm rot="0">
            <a:off x="10060848" y="3793341"/>
            <a:ext cx="3226266" cy="895350"/>
          </a:xfrm>
          <a:prstGeom prst="rect">
            <a:avLst/>
          </a:prstGeom>
        </p:spPr>
        <p:txBody>
          <a:bodyPr anchor="t" rtlCol="false" tIns="0" lIns="0" bIns="0" rIns="0">
            <a:spAutoFit/>
          </a:bodyPr>
          <a:lstStyle/>
          <a:p>
            <a:pPr algn="l">
              <a:lnSpc>
                <a:spcPts val="7199"/>
              </a:lnSpc>
            </a:pPr>
            <a:r>
              <a:rPr lang="en-US" sz="5999" spc="-323" b="true">
                <a:solidFill>
                  <a:srgbClr val="172EB9"/>
                </a:solidFill>
                <a:latin typeface="Garet Bold"/>
                <a:ea typeface="Garet Bold"/>
                <a:cs typeface="Garet Bold"/>
                <a:sym typeface="Garet Bold"/>
              </a:rPr>
              <a:t>02</a:t>
            </a:r>
          </a:p>
        </p:txBody>
      </p:sp>
      <p:sp>
        <p:nvSpPr>
          <p:cNvPr name="TextBox 10" id="10"/>
          <p:cNvSpPr txBox="true"/>
          <p:nvPr/>
        </p:nvSpPr>
        <p:spPr>
          <a:xfrm rot="0">
            <a:off x="11388042" y="4028664"/>
            <a:ext cx="3798142" cy="419100"/>
          </a:xfrm>
          <a:prstGeom prst="rect">
            <a:avLst/>
          </a:prstGeom>
        </p:spPr>
        <p:txBody>
          <a:bodyPr anchor="t" rtlCol="false" tIns="0" lIns="0" bIns="0" rIns="0">
            <a:spAutoFit/>
          </a:bodyPr>
          <a:lstStyle/>
          <a:p>
            <a:pPr algn="l">
              <a:lnSpc>
                <a:spcPts val="3369"/>
              </a:lnSpc>
            </a:pPr>
            <a:r>
              <a:rPr lang="en-US" sz="2807" spc="-151" b="true">
                <a:solidFill>
                  <a:srgbClr val="172EB9"/>
                </a:solidFill>
                <a:latin typeface="Garet Bold"/>
                <a:ea typeface="Garet Bold"/>
                <a:cs typeface="Garet Bold"/>
                <a:sym typeface="Garet Bold"/>
              </a:rPr>
              <a:t>XGBoost Classifier</a:t>
            </a:r>
          </a:p>
        </p:txBody>
      </p:sp>
      <p:sp>
        <p:nvSpPr>
          <p:cNvPr name="Freeform 11" id="11"/>
          <p:cNvSpPr/>
          <p:nvPr/>
        </p:nvSpPr>
        <p:spPr>
          <a:xfrm flipH="false" flipV="false" rot="0">
            <a:off x="11524305" y="2165885"/>
            <a:ext cx="709316" cy="710608"/>
          </a:xfrm>
          <a:custGeom>
            <a:avLst/>
            <a:gdLst/>
            <a:ahLst/>
            <a:cxnLst/>
            <a:rect r="r" b="b" t="t" l="l"/>
            <a:pathLst>
              <a:path h="710608" w="709316">
                <a:moveTo>
                  <a:pt x="0" y="0"/>
                </a:moveTo>
                <a:lnTo>
                  <a:pt x="709316" y="0"/>
                </a:lnTo>
                <a:lnTo>
                  <a:pt x="709316" y="710608"/>
                </a:lnTo>
                <a:lnTo>
                  <a:pt x="0" y="7106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4500268" y="465570"/>
            <a:ext cx="3226266" cy="563130"/>
          </a:xfrm>
          <a:custGeom>
            <a:avLst/>
            <a:gdLst/>
            <a:ahLst/>
            <a:cxnLst/>
            <a:rect r="r" b="b" t="t" l="l"/>
            <a:pathLst>
              <a:path h="563130" w="3226266">
                <a:moveTo>
                  <a:pt x="0" y="0"/>
                </a:moveTo>
                <a:lnTo>
                  <a:pt x="3226266" y="0"/>
                </a:lnTo>
                <a:lnTo>
                  <a:pt x="3226266" y="563130"/>
                </a:lnTo>
                <a:lnTo>
                  <a:pt x="0" y="5631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72EB9"/>
        </a:solidFill>
      </p:bgPr>
    </p:bg>
    <p:spTree>
      <p:nvGrpSpPr>
        <p:cNvPr id="1" name=""/>
        <p:cNvGrpSpPr/>
        <p:nvPr/>
      </p:nvGrpSpPr>
      <p:grpSpPr>
        <a:xfrm>
          <a:off x="0" y="0"/>
          <a:ext cx="0" cy="0"/>
          <a:chOff x="0" y="0"/>
          <a:chExt cx="0" cy="0"/>
        </a:xfrm>
      </p:grpSpPr>
      <p:sp>
        <p:nvSpPr>
          <p:cNvPr name="Freeform 2" id="2"/>
          <p:cNvSpPr/>
          <p:nvPr/>
        </p:nvSpPr>
        <p:spPr>
          <a:xfrm flipH="false" flipV="false" rot="0">
            <a:off x="16128607" y="-221205"/>
            <a:ext cx="2415045" cy="2415045"/>
          </a:xfrm>
          <a:custGeom>
            <a:avLst/>
            <a:gdLst/>
            <a:ahLst/>
            <a:cxnLst/>
            <a:rect r="r" b="b" t="t" l="l"/>
            <a:pathLst>
              <a:path h="2415045" w="2415045">
                <a:moveTo>
                  <a:pt x="0" y="0"/>
                </a:moveTo>
                <a:lnTo>
                  <a:pt x="2415046" y="0"/>
                </a:lnTo>
                <a:lnTo>
                  <a:pt x="2415046" y="2415045"/>
                </a:lnTo>
                <a:lnTo>
                  <a:pt x="0" y="2415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231641" y="7652246"/>
            <a:ext cx="1942819" cy="1942819"/>
          </a:xfrm>
          <a:custGeom>
            <a:avLst/>
            <a:gdLst/>
            <a:ahLst/>
            <a:cxnLst/>
            <a:rect r="r" b="b" t="t" l="l"/>
            <a:pathLst>
              <a:path h="1942819" w="1942819">
                <a:moveTo>
                  <a:pt x="0" y="0"/>
                </a:moveTo>
                <a:lnTo>
                  <a:pt x="1942819" y="0"/>
                </a:lnTo>
                <a:lnTo>
                  <a:pt x="1942819" y="1942818"/>
                </a:lnTo>
                <a:lnTo>
                  <a:pt x="0" y="19428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700000">
            <a:off x="12215843" y="318479"/>
            <a:ext cx="4294383" cy="4114800"/>
          </a:xfrm>
          <a:custGeom>
            <a:avLst/>
            <a:gdLst/>
            <a:ahLst/>
            <a:cxnLst/>
            <a:rect r="r" b="b" t="t" l="l"/>
            <a:pathLst>
              <a:path h="4114800" w="4294383">
                <a:moveTo>
                  <a:pt x="0" y="0"/>
                </a:moveTo>
                <a:lnTo>
                  <a:pt x="4294384" y="0"/>
                </a:lnTo>
                <a:lnTo>
                  <a:pt x="429438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28700" y="951058"/>
            <a:ext cx="9659735" cy="2752265"/>
          </a:xfrm>
          <a:prstGeom prst="rect">
            <a:avLst/>
          </a:prstGeom>
        </p:spPr>
        <p:txBody>
          <a:bodyPr anchor="t" rtlCol="false" tIns="0" lIns="0" bIns="0" rIns="0">
            <a:spAutoFit/>
          </a:bodyPr>
          <a:lstStyle/>
          <a:p>
            <a:pPr algn="l">
              <a:lnSpc>
                <a:spcPts val="10531"/>
              </a:lnSpc>
            </a:pPr>
            <a:r>
              <a:rPr lang="en-US" sz="11085" spc="-598">
                <a:solidFill>
                  <a:srgbClr val="CEFFAD"/>
                </a:solidFill>
                <a:latin typeface="Garet"/>
                <a:ea typeface="Garet"/>
                <a:cs typeface="Garet"/>
                <a:sym typeface="Garet"/>
              </a:rPr>
              <a:t>Optimization Techniques</a:t>
            </a:r>
          </a:p>
        </p:txBody>
      </p:sp>
      <p:sp>
        <p:nvSpPr>
          <p:cNvPr name="TextBox 6" id="6"/>
          <p:cNvSpPr txBox="true"/>
          <p:nvPr/>
        </p:nvSpPr>
        <p:spPr>
          <a:xfrm rot="0">
            <a:off x="1254827" y="5687112"/>
            <a:ext cx="6405804" cy="4095750"/>
          </a:xfrm>
          <a:prstGeom prst="rect">
            <a:avLst/>
          </a:prstGeom>
        </p:spPr>
        <p:txBody>
          <a:bodyPr anchor="t" rtlCol="false" tIns="0" lIns="0" bIns="0" rIns="0">
            <a:spAutoFit/>
          </a:bodyPr>
          <a:lstStyle/>
          <a:p>
            <a:pPr algn="l">
              <a:lnSpc>
                <a:spcPts val="3240"/>
              </a:lnSpc>
            </a:pPr>
            <a:r>
              <a:rPr lang="en-US" sz="2700" spc="-145">
                <a:solidFill>
                  <a:srgbClr val="CEFFAD"/>
                </a:solidFill>
                <a:latin typeface="Garet"/>
                <a:ea typeface="Garet"/>
                <a:cs typeface="Garet"/>
                <a:sym typeface="Garet"/>
              </a:rPr>
              <a:t>A metaheuristic algorithm inspired by the social hierarchy and hunting behavior of grey wolves. The best solution is called Alpha (α), second best is Beta (β), third best is Delta (δ), and the rest are Omega (ω)</a:t>
            </a:r>
          </a:p>
          <a:p>
            <a:pPr algn="l">
              <a:lnSpc>
                <a:spcPts val="3240"/>
              </a:lnSpc>
            </a:pPr>
          </a:p>
          <a:p>
            <a:pPr algn="l">
              <a:lnSpc>
                <a:spcPts val="3240"/>
              </a:lnSpc>
            </a:pPr>
            <a:r>
              <a:rPr lang="en-US" sz="2700" spc="-145">
                <a:solidFill>
                  <a:srgbClr val="CEFFAD"/>
                </a:solidFill>
                <a:latin typeface="Garet"/>
                <a:ea typeface="Garet"/>
                <a:cs typeface="Garet"/>
                <a:sym typeface="Garet"/>
              </a:rPr>
              <a:t>D = |C · X_p(t) - X(t)|</a:t>
            </a:r>
          </a:p>
          <a:p>
            <a:pPr algn="l">
              <a:lnSpc>
                <a:spcPts val="3240"/>
              </a:lnSpc>
            </a:pPr>
          </a:p>
          <a:p>
            <a:pPr algn="l">
              <a:lnSpc>
                <a:spcPts val="3240"/>
              </a:lnSpc>
            </a:pPr>
            <a:r>
              <a:rPr lang="en-US" sz="2700" spc="-145">
                <a:solidFill>
                  <a:srgbClr val="CEFFAD"/>
                </a:solidFill>
                <a:latin typeface="Garet"/>
                <a:ea typeface="Garet"/>
                <a:cs typeface="Garet"/>
                <a:sym typeface="Garet"/>
              </a:rPr>
              <a:t>X(t + 1) = X_p(t) - A · D</a:t>
            </a:r>
          </a:p>
        </p:txBody>
      </p:sp>
      <p:sp>
        <p:nvSpPr>
          <p:cNvPr name="TextBox 7" id="7"/>
          <p:cNvSpPr txBox="true"/>
          <p:nvPr/>
        </p:nvSpPr>
        <p:spPr>
          <a:xfrm rot="0">
            <a:off x="8638419" y="5153025"/>
            <a:ext cx="7736447" cy="4791075"/>
          </a:xfrm>
          <a:prstGeom prst="rect">
            <a:avLst/>
          </a:prstGeom>
        </p:spPr>
        <p:txBody>
          <a:bodyPr anchor="t" rtlCol="false" tIns="0" lIns="0" bIns="0" rIns="0">
            <a:spAutoFit/>
          </a:bodyPr>
          <a:lstStyle/>
          <a:p>
            <a:pPr algn="l">
              <a:lnSpc>
                <a:spcPts val="3188"/>
              </a:lnSpc>
            </a:pPr>
            <a:r>
              <a:rPr lang="en-US" sz="2656" spc="-143">
                <a:solidFill>
                  <a:srgbClr val="CEFFAD"/>
                </a:solidFill>
                <a:latin typeface="Garet"/>
                <a:ea typeface="Garet"/>
                <a:cs typeface="Garet"/>
                <a:sym typeface="Garet"/>
              </a:rPr>
              <a:t>A hybrid algorithm that combines Particle Swarm Optimization (PSO) and Gravitational Search Algorithm (GSA). PSO provides memory of personal and global best positions, while GSA provides gravitational attraction toward better solutions.</a:t>
            </a:r>
          </a:p>
          <a:p>
            <a:pPr algn="l">
              <a:lnSpc>
                <a:spcPts val="3188"/>
              </a:lnSpc>
            </a:pPr>
          </a:p>
          <a:p>
            <a:pPr algn="l">
              <a:lnSpc>
                <a:spcPts val="3188"/>
              </a:lnSpc>
            </a:pPr>
            <a:r>
              <a:rPr lang="en-US" sz="2656" spc="-143">
                <a:solidFill>
                  <a:srgbClr val="CEFFAD"/>
                </a:solidFill>
                <a:latin typeface="Garet"/>
                <a:ea typeface="Garet"/>
                <a:cs typeface="Garet"/>
                <a:sym typeface="Garet"/>
              </a:rPr>
              <a:t>Velocity Update</a:t>
            </a:r>
          </a:p>
          <a:p>
            <a:pPr algn="l">
              <a:lnSpc>
                <a:spcPts val="3188"/>
              </a:lnSpc>
            </a:pPr>
            <a:r>
              <a:rPr lang="en-US" sz="2656" spc="-143">
                <a:solidFill>
                  <a:srgbClr val="CEFFAD"/>
                </a:solidFill>
                <a:latin typeface="Garet"/>
                <a:ea typeface="Garet"/>
                <a:cs typeface="Garet"/>
                <a:sym typeface="Garet"/>
              </a:rPr>
              <a:t>V_i(t + 1) = w · V_i(t) + c1 · r1 · (Pbest_i - X_i(t)) + a_i(t)</a:t>
            </a:r>
          </a:p>
          <a:p>
            <a:pPr algn="l">
              <a:lnSpc>
                <a:spcPts val="3188"/>
              </a:lnSpc>
            </a:pPr>
          </a:p>
          <a:p>
            <a:pPr algn="l">
              <a:lnSpc>
                <a:spcPts val="3188"/>
              </a:lnSpc>
            </a:pPr>
            <a:r>
              <a:rPr lang="en-US" sz="2656" spc="-143" b="true">
                <a:solidFill>
                  <a:srgbClr val="CEFFAD"/>
                </a:solidFill>
                <a:latin typeface="Garet Bold"/>
                <a:ea typeface="Garet Bold"/>
                <a:cs typeface="Garet Bold"/>
                <a:sym typeface="Garet Bold"/>
              </a:rPr>
              <a:t>Position Update</a:t>
            </a:r>
          </a:p>
          <a:p>
            <a:pPr algn="l">
              <a:lnSpc>
                <a:spcPts val="3188"/>
              </a:lnSpc>
            </a:pPr>
            <a:r>
              <a:rPr lang="en-US" sz="2656" spc="-143">
                <a:solidFill>
                  <a:srgbClr val="CEFFAD"/>
                </a:solidFill>
                <a:latin typeface="Garet"/>
                <a:ea typeface="Garet"/>
                <a:cs typeface="Garet"/>
                <a:sym typeface="Garet"/>
              </a:rPr>
              <a:t>X_i(t + 1) = X_i(t) + V_i(t + 1)</a:t>
            </a:r>
          </a:p>
        </p:txBody>
      </p:sp>
      <p:sp>
        <p:nvSpPr>
          <p:cNvPr name="TextBox 8" id="8"/>
          <p:cNvSpPr txBox="true"/>
          <p:nvPr/>
        </p:nvSpPr>
        <p:spPr>
          <a:xfrm rot="0">
            <a:off x="1254827" y="4334562"/>
            <a:ext cx="6499158" cy="1685925"/>
          </a:xfrm>
          <a:prstGeom prst="rect">
            <a:avLst/>
          </a:prstGeom>
        </p:spPr>
        <p:txBody>
          <a:bodyPr anchor="t" rtlCol="false" tIns="0" lIns="0" bIns="0" rIns="0">
            <a:spAutoFit/>
          </a:bodyPr>
          <a:lstStyle/>
          <a:p>
            <a:pPr algn="l">
              <a:lnSpc>
                <a:spcPts val="4439"/>
              </a:lnSpc>
            </a:pPr>
            <a:r>
              <a:rPr lang="en-US" b="true" sz="3699" spc="-199">
                <a:solidFill>
                  <a:srgbClr val="CEFFAD"/>
                </a:solidFill>
                <a:latin typeface="Garet Bold"/>
                <a:ea typeface="Garet Bold"/>
                <a:cs typeface="Garet Bold"/>
                <a:sym typeface="Garet Bold"/>
              </a:rPr>
              <a:t>GREY WOLF OPTIMIZER (GWO)</a:t>
            </a:r>
          </a:p>
          <a:p>
            <a:pPr algn="l">
              <a:lnSpc>
                <a:spcPts val="4439"/>
              </a:lnSpc>
            </a:pPr>
          </a:p>
        </p:txBody>
      </p:sp>
      <p:sp>
        <p:nvSpPr>
          <p:cNvPr name="TextBox 9" id="9"/>
          <p:cNvSpPr txBox="true"/>
          <p:nvPr/>
        </p:nvSpPr>
        <p:spPr>
          <a:xfrm rot="0">
            <a:off x="9333489" y="4344087"/>
            <a:ext cx="6046905" cy="1343025"/>
          </a:xfrm>
          <a:prstGeom prst="rect">
            <a:avLst/>
          </a:prstGeom>
        </p:spPr>
        <p:txBody>
          <a:bodyPr anchor="t" rtlCol="false" tIns="0" lIns="0" bIns="0" rIns="0">
            <a:spAutoFit/>
          </a:bodyPr>
          <a:lstStyle/>
          <a:p>
            <a:pPr algn="l">
              <a:lnSpc>
                <a:spcPts val="5399"/>
              </a:lnSpc>
            </a:pPr>
            <a:r>
              <a:rPr lang="en-US" b="true" sz="4499" spc="-242">
                <a:solidFill>
                  <a:srgbClr val="CEFFAD"/>
                </a:solidFill>
                <a:latin typeface="Garet Bold"/>
                <a:ea typeface="Garet Bold"/>
                <a:cs typeface="Garet Bold"/>
                <a:sym typeface="Garet Bold"/>
              </a:rPr>
              <a:t>HYBRID PSOGSA</a:t>
            </a:r>
          </a:p>
          <a:p>
            <a:pPr algn="l">
              <a:lnSpc>
                <a:spcPts val="5399"/>
              </a:lnSpc>
            </a:pPr>
          </a:p>
        </p:txBody>
      </p:sp>
      <p:sp>
        <p:nvSpPr>
          <p:cNvPr name="Freeform 10" id="10"/>
          <p:cNvSpPr/>
          <p:nvPr/>
        </p:nvSpPr>
        <p:spPr>
          <a:xfrm flipH="false" flipV="false" rot="0">
            <a:off x="17259300" y="9258300"/>
            <a:ext cx="709316" cy="710608"/>
          </a:xfrm>
          <a:custGeom>
            <a:avLst/>
            <a:gdLst/>
            <a:ahLst/>
            <a:cxnLst/>
            <a:rect r="r" b="b" t="t" l="l"/>
            <a:pathLst>
              <a:path h="710608" w="709316">
                <a:moveTo>
                  <a:pt x="0" y="0"/>
                </a:moveTo>
                <a:lnTo>
                  <a:pt x="709316" y="0"/>
                </a:lnTo>
                <a:lnTo>
                  <a:pt x="709316" y="710608"/>
                </a:lnTo>
                <a:lnTo>
                  <a:pt x="0" y="7106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8E7E3"/>
        </a:solidFill>
      </p:bgPr>
    </p:bg>
    <p:spTree>
      <p:nvGrpSpPr>
        <p:cNvPr id="1" name=""/>
        <p:cNvGrpSpPr/>
        <p:nvPr/>
      </p:nvGrpSpPr>
      <p:grpSpPr>
        <a:xfrm>
          <a:off x="0" y="0"/>
          <a:ext cx="0" cy="0"/>
          <a:chOff x="0" y="0"/>
          <a:chExt cx="0" cy="0"/>
        </a:xfrm>
      </p:grpSpPr>
      <p:sp>
        <p:nvSpPr>
          <p:cNvPr name="Freeform 2" id="2"/>
          <p:cNvSpPr/>
          <p:nvPr/>
        </p:nvSpPr>
        <p:spPr>
          <a:xfrm flipH="false" flipV="false" rot="0">
            <a:off x="1748953" y="4236253"/>
            <a:ext cx="2827115" cy="1814494"/>
          </a:xfrm>
          <a:custGeom>
            <a:avLst/>
            <a:gdLst/>
            <a:ahLst/>
            <a:cxnLst/>
            <a:rect r="r" b="b" t="t" l="l"/>
            <a:pathLst>
              <a:path h="1814494" w="2827115">
                <a:moveTo>
                  <a:pt x="0" y="0"/>
                </a:moveTo>
                <a:lnTo>
                  <a:pt x="2827115" y="0"/>
                </a:lnTo>
                <a:lnTo>
                  <a:pt x="2827115" y="1814494"/>
                </a:lnTo>
                <a:lnTo>
                  <a:pt x="0" y="18144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233621" y="4353214"/>
            <a:ext cx="4533294" cy="4506148"/>
          </a:xfrm>
          <a:custGeom>
            <a:avLst/>
            <a:gdLst/>
            <a:ahLst/>
            <a:cxnLst/>
            <a:rect r="r" b="b" t="t" l="l"/>
            <a:pathLst>
              <a:path h="4506148" w="4533294">
                <a:moveTo>
                  <a:pt x="0" y="0"/>
                </a:moveTo>
                <a:lnTo>
                  <a:pt x="4533294" y="0"/>
                </a:lnTo>
                <a:lnTo>
                  <a:pt x="4533294" y="4506148"/>
                </a:lnTo>
                <a:lnTo>
                  <a:pt x="0" y="45061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203726" y="1228725"/>
            <a:ext cx="9556116" cy="2074345"/>
          </a:xfrm>
          <a:prstGeom prst="rect">
            <a:avLst/>
          </a:prstGeom>
        </p:spPr>
        <p:txBody>
          <a:bodyPr anchor="t" rtlCol="false" tIns="0" lIns="0" bIns="0" rIns="0">
            <a:spAutoFit/>
          </a:bodyPr>
          <a:lstStyle/>
          <a:p>
            <a:pPr algn="l">
              <a:lnSpc>
                <a:spcPts val="7920"/>
              </a:lnSpc>
            </a:pPr>
            <a:r>
              <a:rPr lang="en-US" sz="8337" spc="-450">
                <a:solidFill>
                  <a:srgbClr val="172EB9"/>
                </a:solidFill>
                <a:latin typeface="Garet"/>
                <a:ea typeface="Garet"/>
                <a:cs typeface="Garet"/>
                <a:sym typeface="Garet"/>
              </a:rPr>
              <a:t>Mathematical Formulation</a:t>
            </a:r>
          </a:p>
        </p:txBody>
      </p:sp>
      <p:sp>
        <p:nvSpPr>
          <p:cNvPr name="TextBox 5" id="5"/>
          <p:cNvSpPr txBox="true"/>
          <p:nvPr/>
        </p:nvSpPr>
        <p:spPr>
          <a:xfrm rot="0">
            <a:off x="1028700" y="5397893"/>
            <a:ext cx="8336956" cy="4686300"/>
          </a:xfrm>
          <a:prstGeom prst="rect">
            <a:avLst/>
          </a:prstGeom>
        </p:spPr>
        <p:txBody>
          <a:bodyPr anchor="t" rtlCol="false" tIns="0" lIns="0" bIns="0" rIns="0">
            <a:spAutoFit/>
          </a:bodyPr>
          <a:lstStyle/>
          <a:p>
            <a:pPr algn="l">
              <a:lnSpc>
                <a:spcPts val="3148"/>
              </a:lnSpc>
            </a:pPr>
            <a:r>
              <a:rPr lang="en-US" sz="2623" spc="-141" b="true">
                <a:solidFill>
                  <a:srgbClr val="172EB9"/>
                </a:solidFill>
                <a:latin typeface="Garet Bold"/>
                <a:ea typeface="Garet Bold"/>
                <a:cs typeface="Garet Bold"/>
                <a:sym typeface="Garet Bold"/>
              </a:rPr>
              <a:t>SVM:</a:t>
            </a:r>
          </a:p>
          <a:p>
            <a:pPr algn="l">
              <a:lnSpc>
                <a:spcPts val="3148"/>
              </a:lnSpc>
            </a:pPr>
            <a:r>
              <a:rPr lang="en-US" sz="2623" spc="-141" b="true">
                <a:solidFill>
                  <a:srgbClr val="172EB9"/>
                </a:solidFill>
                <a:latin typeface="Garet Bold"/>
                <a:ea typeface="Garet Bold"/>
                <a:cs typeface="Garet Bold"/>
                <a:sym typeface="Garet Bold"/>
              </a:rPr>
              <a:t>X = [C, gamma]</a:t>
            </a:r>
          </a:p>
          <a:p>
            <a:pPr algn="l">
              <a:lnSpc>
                <a:spcPts val="3148"/>
              </a:lnSpc>
            </a:pPr>
          </a:p>
          <a:p>
            <a:pPr algn="l">
              <a:lnSpc>
                <a:spcPts val="3148"/>
              </a:lnSpc>
            </a:pPr>
            <a:r>
              <a:rPr lang="en-US" sz="2623" spc="-141" b="true">
                <a:solidFill>
                  <a:srgbClr val="172EB9"/>
                </a:solidFill>
                <a:latin typeface="Garet Bold"/>
                <a:ea typeface="Garet Bold"/>
                <a:cs typeface="Garet Bold"/>
                <a:sym typeface="Garet Bold"/>
              </a:rPr>
              <a:t>XGBoost:</a:t>
            </a:r>
          </a:p>
          <a:p>
            <a:pPr algn="l">
              <a:lnSpc>
                <a:spcPts val="3148"/>
              </a:lnSpc>
            </a:pPr>
            <a:r>
              <a:rPr lang="en-US" sz="2623" spc="-141" b="true">
                <a:solidFill>
                  <a:srgbClr val="172EB9"/>
                </a:solidFill>
                <a:latin typeface="Garet Bold"/>
                <a:ea typeface="Garet Bold"/>
                <a:cs typeface="Garet Bold"/>
                <a:sym typeface="Garet Bold"/>
              </a:rPr>
              <a:t>X = [n_estimators, max_depth, eta]</a:t>
            </a:r>
          </a:p>
          <a:p>
            <a:pPr algn="l">
              <a:lnSpc>
                <a:spcPts val="3148"/>
              </a:lnSpc>
            </a:pPr>
          </a:p>
          <a:p>
            <a:pPr algn="l">
              <a:lnSpc>
                <a:spcPts val="3148"/>
              </a:lnSpc>
            </a:pPr>
            <a:r>
              <a:rPr lang="en-US" sz="2623" spc="-141" b="true">
                <a:solidFill>
                  <a:srgbClr val="172EB9"/>
                </a:solidFill>
                <a:latin typeface="Garet Bold"/>
                <a:ea typeface="Garet Bold"/>
                <a:cs typeface="Garet Bold"/>
                <a:sym typeface="Garet Bold"/>
              </a:rPr>
              <a:t>Constraints :</a:t>
            </a:r>
          </a:p>
          <a:p>
            <a:pPr algn="l">
              <a:lnSpc>
                <a:spcPts val="3148"/>
              </a:lnSpc>
            </a:pPr>
            <a:r>
              <a:rPr lang="en-US" sz="2623" spc="-141" b="true">
                <a:solidFill>
                  <a:srgbClr val="172EB9"/>
                </a:solidFill>
                <a:latin typeface="Garet Bold"/>
                <a:ea typeface="Garet Bold"/>
                <a:cs typeface="Garet Bold"/>
                <a:sym typeface="Garet Bold"/>
              </a:rPr>
              <a:t>•  0.1 ≤ C ≤ 100 </a:t>
            </a:r>
          </a:p>
          <a:p>
            <a:pPr algn="l">
              <a:lnSpc>
                <a:spcPts val="3148"/>
              </a:lnSpc>
            </a:pPr>
            <a:r>
              <a:rPr lang="en-US" sz="2623" spc="-141" b="true">
                <a:solidFill>
                  <a:srgbClr val="172EB9"/>
                </a:solidFill>
                <a:latin typeface="Garet Bold"/>
                <a:ea typeface="Garet Bold"/>
                <a:cs typeface="Garet Bold"/>
                <a:sym typeface="Garet Bold"/>
              </a:rPr>
              <a:t>•  0.0001 ≤ gamma ≤ 1 </a:t>
            </a:r>
          </a:p>
          <a:p>
            <a:pPr algn="l">
              <a:lnSpc>
                <a:spcPts val="3148"/>
              </a:lnSpc>
            </a:pPr>
            <a:r>
              <a:rPr lang="en-US" sz="2623" spc="-141" b="true">
                <a:solidFill>
                  <a:srgbClr val="172EB9"/>
                </a:solidFill>
                <a:latin typeface="Garet Bold"/>
                <a:ea typeface="Garet Bold"/>
                <a:cs typeface="Garet Bold"/>
                <a:sym typeface="Garet Bold"/>
              </a:rPr>
              <a:t>•  50 ≤ n_estimators ≤ 300 </a:t>
            </a:r>
          </a:p>
          <a:p>
            <a:pPr algn="l">
              <a:lnSpc>
                <a:spcPts val="3148"/>
              </a:lnSpc>
            </a:pPr>
            <a:r>
              <a:rPr lang="en-US" sz="2623" spc="-141" b="true">
                <a:solidFill>
                  <a:srgbClr val="172EB9"/>
                </a:solidFill>
                <a:latin typeface="Garet Bold"/>
                <a:ea typeface="Garet Bold"/>
                <a:cs typeface="Garet Bold"/>
                <a:sym typeface="Garet Bold"/>
              </a:rPr>
              <a:t>•  2 ≤ max_depth ≤ 10 </a:t>
            </a:r>
          </a:p>
          <a:p>
            <a:pPr algn="l">
              <a:lnSpc>
                <a:spcPts val="3148"/>
              </a:lnSpc>
            </a:pPr>
            <a:r>
              <a:rPr lang="en-US" sz="2623" spc="-141" b="true">
                <a:solidFill>
                  <a:srgbClr val="172EB9"/>
                </a:solidFill>
                <a:latin typeface="Garet Bold"/>
                <a:ea typeface="Garet Bold"/>
                <a:cs typeface="Garet Bold"/>
                <a:sym typeface="Garet Bold"/>
              </a:rPr>
              <a:t>•  0.01 ≤ eta ≤ 0.3 </a:t>
            </a:r>
          </a:p>
        </p:txBody>
      </p:sp>
      <p:sp>
        <p:nvSpPr>
          <p:cNvPr name="TextBox 6" id="6"/>
          <p:cNvSpPr txBox="true"/>
          <p:nvPr/>
        </p:nvSpPr>
        <p:spPr>
          <a:xfrm rot="0">
            <a:off x="10759842" y="475095"/>
            <a:ext cx="3226266" cy="895350"/>
          </a:xfrm>
          <a:prstGeom prst="rect">
            <a:avLst/>
          </a:prstGeom>
        </p:spPr>
        <p:txBody>
          <a:bodyPr anchor="t" rtlCol="false" tIns="0" lIns="0" bIns="0" rIns="0">
            <a:spAutoFit/>
          </a:bodyPr>
          <a:lstStyle/>
          <a:p>
            <a:pPr algn="l">
              <a:lnSpc>
                <a:spcPts val="7199"/>
              </a:lnSpc>
            </a:pPr>
            <a:r>
              <a:rPr lang="en-US" sz="5999" spc="-323" b="true">
                <a:solidFill>
                  <a:srgbClr val="172EB9"/>
                </a:solidFill>
                <a:latin typeface="Garet Bold"/>
                <a:ea typeface="Garet Bold"/>
                <a:cs typeface="Garet Bold"/>
                <a:sym typeface="Garet Bold"/>
              </a:rPr>
              <a:t>02</a:t>
            </a:r>
          </a:p>
        </p:txBody>
      </p:sp>
      <p:sp>
        <p:nvSpPr>
          <p:cNvPr name="TextBox 7" id="7"/>
          <p:cNvSpPr txBox="true"/>
          <p:nvPr/>
        </p:nvSpPr>
        <p:spPr>
          <a:xfrm rot="0">
            <a:off x="10048612" y="4353214"/>
            <a:ext cx="6064789" cy="1390650"/>
          </a:xfrm>
          <a:prstGeom prst="rect">
            <a:avLst/>
          </a:prstGeom>
        </p:spPr>
        <p:txBody>
          <a:bodyPr anchor="t" rtlCol="false" tIns="0" lIns="0" bIns="0" rIns="0">
            <a:spAutoFit/>
          </a:bodyPr>
          <a:lstStyle/>
          <a:p>
            <a:pPr algn="l">
              <a:lnSpc>
                <a:spcPts val="5529"/>
              </a:lnSpc>
            </a:pPr>
            <a:r>
              <a:rPr lang="en-US" sz="4607" spc="-248" b="true">
                <a:solidFill>
                  <a:srgbClr val="172EB9"/>
                </a:solidFill>
                <a:latin typeface="Garet Bold"/>
                <a:ea typeface="Garet Bold"/>
                <a:cs typeface="Garet Bold"/>
                <a:sym typeface="Garet Bold"/>
              </a:rPr>
              <a:t>Objective Function</a:t>
            </a:r>
          </a:p>
          <a:p>
            <a:pPr algn="l">
              <a:lnSpc>
                <a:spcPts val="5529"/>
              </a:lnSpc>
            </a:pPr>
          </a:p>
        </p:txBody>
      </p:sp>
      <p:sp>
        <p:nvSpPr>
          <p:cNvPr name="Freeform 8" id="8"/>
          <p:cNvSpPr/>
          <p:nvPr/>
        </p:nvSpPr>
        <p:spPr>
          <a:xfrm flipH="false" flipV="false" rot="0">
            <a:off x="11524305" y="2165885"/>
            <a:ext cx="709316" cy="710608"/>
          </a:xfrm>
          <a:custGeom>
            <a:avLst/>
            <a:gdLst/>
            <a:ahLst/>
            <a:cxnLst/>
            <a:rect r="r" b="b" t="t" l="l"/>
            <a:pathLst>
              <a:path h="710608" w="709316">
                <a:moveTo>
                  <a:pt x="0" y="0"/>
                </a:moveTo>
                <a:lnTo>
                  <a:pt x="709316" y="0"/>
                </a:lnTo>
                <a:lnTo>
                  <a:pt x="709316" y="710608"/>
                </a:lnTo>
                <a:lnTo>
                  <a:pt x="0" y="7106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4500268" y="465570"/>
            <a:ext cx="3226266" cy="563130"/>
          </a:xfrm>
          <a:custGeom>
            <a:avLst/>
            <a:gdLst/>
            <a:ahLst/>
            <a:cxnLst/>
            <a:rect r="r" b="b" t="t" l="l"/>
            <a:pathLst>
              <a:path h="563130" w="3226266">
                <a:moveTo>
                  <a:pt x="0" y="0"/>
                </a:moveTo>
                <a:lnTo>
                  <a:pt x="3226266" y="0"/>
                </a:lnTo>
                <a:lnTo>
                  <a:pt x="3226266" y="563130"/>
                </a:lnTo>
                <a:lnTo>
                  <a:pt x="0" y="5631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1028700" y="4353214"/>
            <a:ext cx="5509788" cy="1390650"/>
          </a:xfrm>
          <a:prstGeom prst="rect">
            <a:avLst/>
          </a:prstGeom>
        </p:spPr>
        <p:txBody>
          <a:bodyPr anchor="t" rtlCol="false" tIns="0" lIns="0" bIns="0" rIns="0">
            <a:spAutoFit/>
          </a:bodyPr>
          <a:lstStyle/>
          <a:p>
            <a:pPr algn="l">
              <a:lnSpc>
                <a:spcPts val="5529"/>
              </a:lnSpc>
            </a:pPr>
            <a:r>
              <a:rPr lang="en-US" sz="4607" spc="-248" b="true">
                <a:solidFill>
                  <a:srgbClr val="172EB9"/>
                </a:solidFill>
                <a:latin typeface="Garet Bold"/>
                <a:ea typeface="Garet Bold"/>
                <a:cs typeface="Garet Bold"/>
                <a:sym typeface="Garet Bold"/>
              </a:rPr>
              <a:t>Decision Variables</a:t>
            </a:r>
          </a:p>
          <a:p>
            <a:pPr algn="l">
              <a:lnSpc>
                <a:spcPts val="5529"/>
              </a:lnSpc>
            </a:pPr>
          </a:p>
        </p:txBody>
      </p:sp>
      <p:sp>
        <p:nvSpPr>
          <p:cNvPr name="TextBox 11" id="11"/>
          <p:cNvSpPr txBox="true"/>
          <p:nvPr/>
        </p:nvSpPr>
        <p:spPr>
          <a:xfrm rot="0">
            <a:off x="10321376" y="5743864"/>
            <a:ext cx="7966624" cy="1600200"/>
          </a:xfrm>
          <a:prstGeom prst="rect">
            <a:avLst/>
          </a:prstGeom>
        </p:spPr>
        <p:txBody>
          <a:bodyPr anchor="t" rtlCol="false" tIns="0" lIns="0" bIns="0" rIns="0">
            <a:spAutoFit/>
          </a:bodyPr>
          <a:lstStyle/>
          <a:p>
            <a:pPr algn="l">
              <a:lnSpc>
                <a:spcPts val="4260"/>
              </a:lnSpc>
            </a:pPr>
            <a:r>
              <a:rPr lang="en-US" sz="3550" spc="-191" b="true">
                <a:solidFill>
                  <a:srgbClr val="172EB9"/>
                </a:solidFill>
                <a:latin typeface="Garet Bold"/>
                <a:ea typeface="Garet Bold"/>
                <a:cs typeface="Garet Bold"/>
                <a:sym typeface="Garet Bold"/>
              </a:rPr>
              <a:t>Maximize: f(X)</a:t>
            </a:r>
            <a:r>
              <a:rPr lang="en-US" sz="3550" spc="-191" b="true">
                <a:solidFill>
                  <a:srgbClr val="172EB9"/>
                </a:solidFill>
                <a:latin typeface="Garet Bold"/>
                <a:ea typeface="Garet Bold"/>
                <a:cs typeface="Garet Bold"/>
                <a:sym typeface="Garet Bold"/>
              </a:rPr>
              <a:t> = Accuracy(X)</a:t>
            </a:r>
          </a:p>
          <a:p>
            <a:pPr algn="l">
              <a:lnSpc>
                <a:spcPts val="4260"/>
              </a:lnSpc>
            </a:pPr>
            <a:r>
              <a:rPr lang="en-US" sz="3550" spc="-191" b="true">
                <a:solidFill>
                  <a:srgbClr val="172EB9"/>
                </a:solidFill>
                <a:latin typeface="Garet Bold"/>
                <a:ea typeface="Garet Bold"/>
                <a:cs typeface="Garet Bold"/>
                <a:sym typeface="Garet Bold"/>
              </a:rPr>
              <a:t>Subject to:   X ∈ [LB, UB]</a:t>
            </a:r>
          </a:p>
          <a:p>
            <a:pPr algn="l">
              <a:lnSpc>
                <a:spcPts val="426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72EB9"/>
        </a:solidFill>
      </p:bgPr>
    </p:bg>
    <p:spTree>
      <p:nvGrpSpPr>
        <p:cNvPr id="1" name=""/>
        <p:cNvGrpSpPr/>
        <p:nvPr/>
      </p:nvGrpSpPr>
      <p:grpSpPr>
        <a:xfrm>
          <a:off x="0" y="0"/>
          <a:ext cx="0" cy="0"/>
          <a:chOff x="0" y="0"/>
          <a:chExt cx="0" cy="0"/>
        </a:xfrm>
      </p:grpSpPr>
      <p:sp>
        <p:nvSpPr>
          <p:cNvPr name="Freeform 2" id="2"/>
          <p:cNvSpPr/>
          <p:nvPr/>
        </p:nvSpPr>
        <p:spPr>
          <a:xfrm flipH="false" flipV="false" rot="0">
            <a:off x="1025694" y="8623213"/>
            <a:ext cx="1267864" cy="1270174"/>
          </a:xfrm>
          <a:custGeom>
            <a:avLst/>
            <a:gdLst/>
            <a:ahLst/>
            <a:cxnLst/>
            <a:rect r="r" b="b" t="t" l="l"/>
            <a:pathLst>
              <a:path h="1270174" w="1267864">
                <a:moveTo>
                  <a:pt x="0" y="0"/>
                </a:moveTo>
                <a:lnTo>
                  <a:pt x="1267864" y="0"/>
                </a:lnTo>
                <a:lnTo>
                  <a:pt x="1267864" y="1270174"/>
                </a:lnTo>
                <a:lnTo>
                  <a:pt x="0" y="12701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806972" y="427737"/>
            <a:ext cx="2923942" cy="2892044"/>
          </a:xfrm>
          <a:custGeom>
            <a:avLst/>
            <a:gdLst/>
            <a:ahLst/>
            <a:cxnLst/>
            <a:rect r="r" b="b" t="t" l="l"/>
            <a:pathLst>
              <a:path h="2892044" w="2923942">
                <a:moveTo>
                  <a:pt x="0" y="0"/>
                </a:moveTo>
                <a:lnTo>
                  <a:pt x="2923942" y="0"/>
                </a:lnTo>
                <a:lnTo>
                  <a:pt x="2923942" y="2892044"/>
                </a:lnTo>
                <a:lnTo>
                  <a:pt x="0" y="28920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085768" y="8711122"/>
            <a:ext cx="2240713" cy="1291465"/>
          </a:xfrm>
          <a:custGeom>
            <a:avLst/>
            <a:gdLst/>
            <a:ahLst/>
            <a:cxnLst/>
            <a:rect r="r" b="b" t="t" l="l"/>
            <a:pathLst>
              <a:path h="1291465" w="2240713">
                <a:moveTo>
                  <a:pt x="0" y="0"/>
                </a:moveTo>
                <a:lnTo>
                  <a:pt x="2240712" y="0"/>
                </a:lnTo>
                <a:lnTo>
                  <a:pt x="2240712" y="1291466"/>
                </a:lnTo>
                <a:lnTo>
                  <a:pt x="0" y="12914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396978" y="1285875"/>
            <a:ext cx="7563206" cy="2730275"/>
          </a:xfrm>
          <a:prstGeom prst="rect">
            <a:avLst/>
          </a:prstGeom>
        </p:spPr>
        <p:txBody>
          <a:bodyPr anchor="t" rtlCol="false" tIns="0" lIns="0" bIns="0" rIns="0">
            <a:spAutoFit/>
          </a:bodyPr>
          <a:lstStyle/>
          <a:p>
            <a:pPr algn="l">
              <a:lnSpc>
                <a:spcPts val="10436"/>
              </a:lnSpc>
            </a:pPr>
            <a:r>
              <a:rPr lang="en-US" sz="10985" spc="-593">
                <a:solidFill>
                  <a:srgbClr val="CEFFAD"/>
                </a:solidFill>
                <a:latin typeface="Garet"/>
                <a:ea typeface="Garet"/>
                <a:cs typeface="Garet"/>
                <a:sym typeface="Garet"/>
              </a:rPr>
              <a:t>Results &amp; Discussion</a:t>
            </a:r>
          </a:p>
        </p:txBody>
      </p:sp>
      <p:sp>
        <p:nvSpPr>
          <p:cNvPr name="TextBox 6" id="6"/>
          <p:cNvSpPr txBox="true"/>
          <p:nvPr/>
        </p:nvSpPr>
        <p:spPr>
          <a:xfrm rot="0">
            <a:off x="1221879" y="4006625"/>
            <a:ext cx="7484374" cy="5086350"/>
          </a:xfrm>
          <a:prstGeom prst="rect">
            <a:avLst/>
          </a:prstGeom>
        </p:spPr>
        <p:txBody>
          <a:bodyPr anchor="t" rtlCol="false" tIns="0" lIns="0" bIns="0" rIns="0">
            <a:spAutoFit/>
          </a:bodyPr>
          <a:lstStyle/>
          <a:p>
            <a:pPr algn="l">
              <a:lnSpc>
                <a:spcPts val="3120"/>
              </a:lnSpc>
            </a:pPr>
            <a:r>
              <a:rPr lang="en-US" sz="2600" spc="-140">
                <a:solidFill>
                  <a:srgbClr val="CEFFAD"/>
                </a:solidFill>
                <a:latin typeface="Garet"/>
                <a:ea typeface="Garet"/>
                <a:cs typeface="Garet"/>
                <a:sym typeface="Garet"/>
              </a:rPr>
              <a:t>Optimization Impact</a:t>
            </a:r>
          </a:p>
          <a:p>
            <a:pPr algn="l">
              <a:lnSpc>
                <a:spcPts val="3120"/>
              </a:lnSpc>
            </a:pPr>
            <a:r>
              <a:rPr lang="en-US" sz="2600" spc="-140">
                <a:solidFill>
                  <a:srgbClr val="CEFFAD"/>
                </a:solidFill>
                <a:latin typeface="Garet"/>
                <a:ea typeface="Garet"/>
                <a:cs typeface="Garet"/>
                <a:sym typeface="Garet"/>
              </a:rPr>
              <a:t>1. SVM – Optimized by GWO</a:t>
            </a:r>
          </a:p>
          <a:p>
            <a:pPr algn="l" marL="561341" indent="-280670" lvl="1">
              <a:lnSpc>
                <a:spcPts val="3120"/>
              </a:lnSpc>
              <a:buFont typeface="Arial"/>
              <a:buChar char="•"/>
            </a:pPr>
            <a:r>
              <a:rPr lang="en-US" sz="2600" spc="-140">
                <a:solidFill>
                  <a:srgbClr val="CEFFAD"/>
                </a:solidFill>
                <a:latin typeface="Garet"/>
                <a:ea typeface="Garet"/>
                <a:cs typeface="Garet"/>
                <a:sym typeface="Garet"/>
              </a:rPr>
              <a:t>Optimized Parameters: C and gamma</a:t>
            </a:r>
          </a:p>
          <a:p>
            <a:pPr algn="l" marL="561341" indent="-280670" lvl="1">
              <a:lnSpc>
                <a:spcPts val="3120"/>
              </a:lnSpc>
              <a:buFont typeface="Arial"/>
              <a:buChar char="•"/>
            </a:pPr>
            <a:r>
              <a:rPr lang="en-US" sz="2600" spc="-140">
                <a:solidFill>
                  <a:srgbClr val="CEFFAD"/>
                </a:solidFill>
                <a:latin typeface="Garet"/>
                <a:ea typeface="Garet"/>
                <a:cs typeface="Garet"/>
                <a:sym typeface="Garet"/>
              </a:rPr>
              <a:t>Accuracy Before: 76%</a:t>
            </a:r>
          </a:p>
          <a:p>
            <a:pPr algn="l" marL="561341" indent="-280670" lvl="1">
              <a:lnSpc>
                <a:spcPts val="3120"/>
              </a:lnSpc>
              <a:buFont typeface="Arial"/>
              <a:buChar char="•"/>
            </a:pPr>
            <a:r>
              <a:rPr lang="en-US" sz="2600" spc="-140">
                <a:solidFill>
                  <a:srgbClr val="CEFFAD"/>
                </a:solidFill>
                <a:latin typeface="Garet"/>
                <a:ea typeface="Garet"/>
                <a:cs typeface="Garet"/>
                <a:sym typeface="Garet"/>
              </a:rPr>
              <a:t>Accuracy After: 78%</a:t>
            </a:r>
          </a:p>
          <a:p>
            <a:pPr algn="l" marL="561341" indent="-280670" lvl="1">
              <a:lnSpc>
                <a:spcPts val="3120"/>
              </a:lnSpc>
              <a:buFont typeface="Arial"/>
              <a:buChar char="•"/>
            </a:pPr>
            <a:r>
              <a:rPr lang="en-US" sz="2600" spc="-140">
                <a:solidFill>
                  <a:srgbClr val="CEFFAD"/>
                </a:solidFill>
                <a:latin typeface="Garet"/>
                <a:ea typeface="Garet"/>
                <a:cs typeface="Garet"/>
                <a:sym typeface="Garet"/>
              </a:rPr>
              <a:t>Improvement: +2%</a:t>
            </a:r>
          </a:p>
          <a:p>
            <a:pPr algn="l">
              <a:lnSpc>
                <a:spcPts val="3120"/>
              </a:lnSpc>
            </a:pPr>
            <a:r>
              <a:rPr lang="en-US" sz="2600" spc="-140">
                <a:solidFill>
                  <a:srgbClr val="CEFFAD"/>
                </a:solidFill>
                <a:latin typeface="Garet"/>
                <a:ea typeface="Garet"/>
                <a:cs typeface="Garet"/>
                <a:sym typeface="Garet"/>
              </a:rPr>
              <a:t>2. XGBoost – Optimized by PSOGSA</a:t>
            </a:r>
          </a:p>
          <a:p>
            <a:pPr algn="l" marL="561341" indent="-280670" lvl="1">
              <a:lnSpc>
                <a:spcPts val="3120"/>
              </a:lnSpc>
              <a:buFont typeface="Arial"/>
              <a:buChar char="•"/>
            </a:pPr>
            <a:r>
              <a:rPr lang="en-US" sz="2600" spc="-140">
                <a:solidFill>
                  <a:srgbClr val="CEFFAD"/>
                </a:solidFill>
                <a:latin typeface="Garet"/>
                <a:ea typeface="Garet"/>
                <a:cs typeface="Garet"/>
                <a:sym typeface="Garet"/>
              </a:rPr>
              <a:t>Optimized Parameters: n_estimators, max_depth, eta</a:t>
            </a:r>
          </a:p>
          <a:p>
            <a:pPr algn="l" marL="561341" indent="-280670" lvl="1">
              <a:lnSpc>
                <a:spcPts val="3120"/>
              </a:lnSpc>
              <a:buFont typeface="Arial"/>
              <a:buChar char="•"/>
            </a:pPr>
            <a:r>
              <a:rPr lang="en-US" sz="2600" spc="-140">
                <a:solidFill>
                  <a:srgbClr val="CEFFAD"/>
                </a:solidFill>
                <a:latin typeface="Garet"/>
                <a:ea typeface="Garet"/>
                <a:cs typeface="Garet"/>
                <a:sym typeface="Garet"/>
              </a:rPr>
              <a:t>Accuracy Before: 78%</a:t>
            </a:r>
          </a:p>
          <a:p>
            <a:pPr algn="l" marL="561341" indent="-280670" lvl="1">
              <a:lnSpc>
                <a:spcPts val="3120"/>
              </a:lnSpc>
              <a:buFont typeface="Arial"/>
              <a:buChar char="•"/>
            </a:pPr>
            <a:r>
              <a:rPr lang="en-US" sz="2600" spc="-140">
                <a:solidFill>
                  <a:srgbClr val="CEFFAD"/>
                </a:solidFill>
                <a:latin typeface="Garet"/>
                <a:ea typeface="Garet"/>
                <a:cs typeface="Garet"/>
                <a:sym typeface="Garet"/>
              </a:rPr>
              <a:t>Accuracy After: 81%</a:t>
            </a:r>
          </a:p>
          <a:p>
            <a:pPr algn="l" marL="561341" indent="-280670" lvl="1">
              <a:lnSpc>
                <a:spcPts val="3120"/>
              </a:lnSpc>
              <a:buFont typeface="Arial"/>
              <a:buChar char="•"/>
            </a:pPr>
            <a:r>
              <a:rPr lang="en-US" sz="2600" spc="-140">
                <a:solidFill>
                  <a:srgbClr val="CEFFAD"/>
                </a:solidFill>
                <a:latin typeface="Garet"/>
                <a:ea typeface="Garet"/>
                <a:cs typeface="Garet"/>
                <a:sym typeface="Garet"/>
              </a:rPr>
              <a:t>Improvement: +3%</a:t>
            </a:r>
          </a:p>
          <a:p>
            <a:pPr algn="l">
              <a:lnSpc>
                <a:spcPts val="3120"/>
              </a:lnSpc>
            </a:pPr>
          </a:p>
        </p:txBody>
      </p:sp>
      <p:pic>
        <p:nvPicPr>
          <p:cNvPr name="Picture 7" id="7"/>
          <p:cNvPicPr>
            <a:picLocks noChangeAspect="true"/>
          </p:cNvPicPr>
          <p:nvPr/>
        </p:nvPicPr>
        <p:blipFill>
          <a:blip r:embed="rId8"/>
          <a:stretch>
            <a:fillRect/>
          </a:stretch>
        </p:blipFill>
        <p:spPr>
          <a:xfrm rot="0">
            <a:off x="9126634" y="637047"/>
            <a:ext cx="8138166" cy="8672798"/>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72EB9"/>
        </a:solidFill>
      </p:bgPr>
    </p:bg>
    <p:spTree>
      <p:nvGrpSpPr>
        <p:cNvPr id="1" name=""/>
        <p:cNvGrpSpPr/>
        <p:nvPr/>
      </p:nvGrpSpPr>
      <p:grpSpPr>
        <a:xfrm>
          <a:off x="0" y="0"/>
          <a:ext cx="0" cy="0"/>
          <a:chOff x="0" y="0"/>
          <a:chExt cx="0" cy="0"/>
        </a:xfrm>
      </p:grpSpPr>
      <p:sp>
        <p:nvSpPr>
          <p:cNvPr name="Freeform 2" id="2"/>
          <p:cNvSpPr/>
          <p:nvPr/>
        </p:nvSpPr>
        <p:spPr>
          <a:xfrm flipH="false" flipV="false" rot="0">
            <a:off x="11789157" y="1439810"/>
            <a:ext cx="4898571" cy="4114800"/>
          </a:xfrm>
          <a:custGeom>
            <a:avLst/>
            <a:gdLst/>
            <a:ahLst/>
            <a:cxnLst/>
            <a:rect r="r" b="b" t="t" l="l"/>
            <a:pathLst>
              <a:path h="4114800" w="4898571">
                <a:moveTo>
                  <a:pt x="0" y="0"/>
                </a:moveTo>
                <a:lnTo>
                  <a:pt x="4898571" y="0"/>
                </a:lnTo>
                <a:lnTo>
                  <a:pt x="489857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7291" y="5861033"/>
            <a:ext cx="1942819" cy="1942819"/>
          </a:xfrm>
          <a:custGeom>
            <a:avLst/>
            <a:gdLst/>
            <a:ahLst/>
            <a:cxnLst/>
            <a:rect r="r" b="b" t="t" l="l"/>
            <a:pathLst>
              <a:path h="1942819" w="1942819">
                <a:moveTo>
                  <a:pt x="0" y="0"/>
                </a:moveTo>
                <a:lnTo>
                  <a:pt x="1942818" y="0"/>
                </a:lnTo>
                <a:lnTo>
                  <a:pt x="1942818" y="1942819"/>
                </a:lnTo>
                <a:lnTo>
                  <a:pt x="0" y="19428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228698" y="1485900"/>
            <a:ext cx="9348449" cy="4783212"/>
          </a:xfrm>
          <a:prstGeom prst="rect">
            <a:avLst/>
          </a:prstGeom>
        </p:spPr>
        <p:txBody>
          <a:bodyPr anchor="t" rtlCol="false" tIns="0" lIns="0" bIns="0" rIns="0">
            <a:spAutoFit/>
          </a:bodyPr>
          <a:lstStyle/>
          <a:p>
            <a:pPr algn="l">
              <a:lnSpc>
                <a:spcPts val="18289"/>
              </a:lnSpc>
            </a:pPr>
            <a:r>
              <a:rPr lang="en-US" sz="19252" spc="-1039" b="true">
                <a:solidFill>
                  <a:srgbClr val="CEFFAD"/>
                </a:solidFill>
                <a:latin typeface="Garet Bold"/>
                <a:ea typeface="Garet Bold"/>
                <a:cs typeface="Garet Bold"/>
                <a:sym typeface="Garet Bold"/>
              </a:rPr>
              <a:t>Thank You</a:t>
            </a:r>
          </a:p>
        </p:txBody>
      </p:sp>
      <p:sp>
        <p:nvSpPr>
          <p:cNvPr name="TextBox 5" id="5"/>
          <p:cNvSpPr txBox="true"/>
          <p:nvPr/>
        </p:nvSpPr>
        <p:spPr>
          <a:xfrm rot="0">
            <a:off x="2468487" y="8197769"/>
            <a:ext cx="5450076" cy="485775"/>
          </a:xfrm>
          <a:prstGeom prst="rect">
            <a:avLst/>
          </a:prstGeom>
        </p:spPr>
        <p:txBody>
          <a:bodyPr anchor="t" rtlCol="false" tIns="0" lIns="0" bIns="0" rIns="0">
            <a:spAutoFit/>
          </a:bodyPr>
          <a:lstStyle/>
          <a:p>
            <a:pPr algn="l">
              <a:lnSpc>
                <a:spcPts val="3882"/>
              </a:lnSpc>
            </a:pPr>
            <a:r>
              <a:rPr lang="en-US" sz="3235" spc="-174" u="sng">
                <a:solidFill>
                  <a:srgbClr val="172EB9"/>
                </a:solidFill>
                <a:latin typeface="Garet"/>
                <a:ea typeface="Garet"/>
                <a:cs typeface="Garet"/>
                <a:sym typeface="Garet"/>
                <a:hlinkClick r:id="rId6" tooltip="https://www.linkedin.com/in/omar-saber1/"/>
              </a:rPr>
              <a:t>Linkedin</a:t>
            </a:r>
          </a:p>
        </p:txBody>
      </p:sp>
      <p:sp>
        <p:nvSpPr>
          <p:cNvPr name="TextBox 6" id="6"/>
          <p:cNvSpPr txBox="true"/>
          <p:nvPr/>
        </p:nvSpPr>
        <p:spPr>
          <a:xfrm rot="0">
            <a:off x="14764020" y="8197769"/>
            <a:ext cx="5450076" cy="485775"/>
          </a:xfrm>
          <a:prstGeom prst="rect">
            <a:avLst/>
          </a:prstGeom>
        </p:spPr>
        <p:txBody>
          <a:bodyPr anchor="t" rtlCol="false" tIns="0" lIns="0" bIns="0" rIns="0">
            <a:spAutoFit/>
          </a:bodyPr>
          <a:lstStyle/>
          <a:p>
            <a:pPr algn="l">
              <a:lnSpc>
                <a:spcPts val="3882"/>
              </a:lnSpc>
            </a:pPr>
            <a:r>
              <a:rPr lang="en-US" sz="3235" spc="-174" u="sng">
                <a:solidFill>
                  <a:srgbClr val="172EB9"/>
                </a:solidFill>
                <a:latin typeface="Garet"/>
                <a:ea typeface="Garet"/>
                <a:cs typeface="Garet"/>
                <a:sym typeface="Garet"/>
                <a:hlinkClick r:id="rId7" tooltip="https://github.com/omarsaber10"/>
              </a:rPr>
              <a:t>GitHub</a:t>
            </a:r>
          </a:p>
        </p:txBody>
      </p:sp>
      <p:sp>
        <p:nvSpPr>
          <p:cNvPr name="Freeform 7" id="7"/>
          <p:cNvSpPr/>
          <p:nvPr/>
        </p:nvSpPr>
        <p:spPr>
          <a:xfrm flipH="false" flipV="false" rot="0">
            <a:off x="17489058" y="9258300"/>
            <a:ext cx="1942819" cy="1942819"/>
          </a:xfrm>
          <a:custGeom>
            <a:avLst/>
            <a:gdLst/>
            <a:ahLst/>
            <a:cxnLst/>
            <a:rect r="r" b="b" t="t" l="l"/>
            <a:pathLst>
              <a:path h="1942819" w="1942819">
                <a:moveTo>
                  <a:pt x="0" y="0"/>
                </a:moveTo>
                <a:lnTo>
                  <a:pt x="1942819" y="0"/>
                </a:lnTo>
                <a:lnTo>
                  <a:pt x="1942819" y="1942819"/>
                </a:lnTo>
                <a:lnTo>
                  <a:pt x="0" y="19428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7489058" y="-914119"/>
            <a:ext cx="1942819" cy="1942819"/>
          </a:xfrm>
          <a:custGeom>
            <a:avLst/>
            <a:gdLst/>
            <a:ahLst/>
            <a:cxnLst/>
            <a:rect r="r" b="b" t="t" l="l"/>
            <a:pathLst>
              <a:path h="1942819" w="1942819">
                <a:moveTo>
                  <a:pt x="0" y="0"/>
                </a:moveTo>
                <a:lnTo>
                  <a:pt x="1942819" y="0"/>
                </a:lnTo>
                <a:lnTo>
                  <a:pt x="1942819" y="1942819"/>
                </a:lnTo>
                <a:lnTo>
                  <a:pt x="0" y="19428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DAHJdgmJimY</dc:identifier>
  <dcterms:modified xsi:type="dcterms:W3CDTF">2011-08-01T06:04:30Z</dcterms:modified>
  <cp:revision>1</cp:revision>
  <dc:title>Blue and Yellow Simple Research Proposal Presentation</dc:title>
</cp:coreProperties>
</file>